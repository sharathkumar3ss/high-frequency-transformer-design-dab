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9" r:id="rId8"/>
    <p:sldId id="270" r:id="rId9"/>
    <p:sldId id="260" r:id="rId10"/>
    <p:sldId id="263" r:id="rId11"/>
    <p:sldId id="268" r:id="rId12"/>
    <p:sldId id="267" r:id="rId13"/>
    <p:sldId id="265" r:id="rId14"/>
    <p:sldId id="266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1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5EBD2-F0A5-AC46-0D0B-40A1EC5E1E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C3283C-BE29-A4F4-5510-882AF2D442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3EF974-EB2B-75C4-F103-6E72115D6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BF9EA-8859-41F3-BA3E-B6A2FE4BAB20}" type="datetimeFigureOut">
              <a:rPr lang="en-IN" smtClean="0"/>
              <a:t>14-05-2026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53CD8B-11EA-74DF-303F-75FBB109E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68D4F8-1C64-1EBC-ADEE-7B06819BE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EB113-56E8-4A88-93C1-B1CD7A3968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51438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6ADAA-EF66-FFF2-0040-CDD76108D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3E36CE-1D38-E8C3-ADEB-CE3677C0A7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273AF9-0041-9EB9-5418-5023AECBC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BF9EA-8859-41F3-BA3E-B6A2FE4BAB20}" type="datetimeFigureOut">
              <a:rPr lang="en-IN" smtClean="0"/>
              <a:t>14-05-2026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DD9FBF-FD98-1D0B-E98C-6896DDE63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573368-05FA-3FBE-2DD2-E096CE183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EB113-56E8-4A88-93C1-B1CD7A3968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55479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13466-2F96-D8DD-C99B-BFDD034B4C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A42A60-F61A-4A3D-D83D-542DB9F674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1543A3-463A-DA9E-E174-AF3FF4D1B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BF9EA-8859-41F3-BA3E-B6A2FE4BAB20}" type="datetimeFigureOut">
              <a:rPr lang="en-IN" smtClean="0"/>
              <a:t>14-05-2026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DF6323-CE74-6002-685B-A77D15EFD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07E4C5-6672-C0E5-0804-8324CEC46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EB113-56E8-4A88-93C1-B1CD7A3968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30665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7BE54-B57E-0986-D6E2-F81E12518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3E0F98-6373-14A2-B771-A6AC2B2897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5134DE-FB4B-EAA6-BCCD-62A9CEBB4F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A82528-7691-22D8-8030-00E159C7FD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BF9EA-8859-41F3-BA3E-B6A2FE4BAB20}" type="datetimeFigureOut">
              <a:rPr lang="en-IN" smtClean="0"/>
              <a:t>14-05-2026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07F6A8-28CF-C590-0A92-F0DEEFF68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64721D-A99C-A009-94A0-B785AF62D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EB113-56E8-4A88-93C1-B1CD7A3968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9196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2174CE-C45F-7D21-5591-5DB23CAEB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7876BF-B2E1-9359-1D8C-FA3B67D518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511C3E-0392-A4FC-8DCE-0536FF5EDF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403C0E-EBF7-B759-45E9-B146E2605B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9AFA51-8AD2-8C77-E918-1343E77857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CDD07AF-A9F6-416F-ECBC-0A2AA50817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BF9EA-8859-41F3-BA3E-B6A2FE4BAB20}" type="datetimeFigureOut">
              <a:rPr lang="en-IN" smtClean="0"/>
              <a:t>14-05-2026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72F8415-83F6-8E57-351B-511E23C8F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E249CD-8989-ED8C-78BD-0CFD4B7DB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EB113-56E8-4A88-93C1-B1CD7A3968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3200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1073F-7F06-9D8D-A93B-52DD6FCC2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068A07-DE21-8E33-F0A6-6EA938255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BF9EA-8859-41F3-BA3E-B6A2FE4BAB20}" type="datetimeFigureOut">
              <a:rPr lang="en-IN" smtClean="0"/>
              <a:t>14-05-2026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4A0210-C4D3-A1E5-386F-27D6E7803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B03D42-2801-87E6-7C0F-C4AB3AF78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EB113-56E8-4A88-93C1-B1CD7A3968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9936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C7291A7-1A14-6A5A-3E20-4A7057753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BF9EA-8859-41F3-BA3E-B6A2FE4BAB20}" type="datetimeFigureOut">
              <a:rPr lang="en-IN" smtClean="0"/>
              <a:t>14-05-2026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3A1E3F8-FD4D-130F-43CA-395652ABE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558647-85CB-8B92-3EAB-D07764DDE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EB113-56E8-4A88-93C1-B1CD7A3968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52235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8D036-2EBA-1292-AA7D-8A28DD46F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7F9A5E-9D05-6CF2-F8E1-F5420D5B11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0C0808-A09A-3E88-689C-73E30FCC44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F473BB-D64E-FD89-0AD0-030E1DC3E2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BF9EA-8859-41F3-BA3E-B6A2FE4BAB20}" type="datetimeFigureOut">
              <a:rPr lang="en-IN" smtClean="0"/>
              <a:t>14-05-2026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F22FC4-A01A-B465-A8DA-91D073E25F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D5ED1D-2B91-466C-E866-FFFF1ABC2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EB113-56E8-4A88-93C1-B1CD7A3968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85905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4557B-AFAC-FB43-0D6D-F77C30B43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B677A45-4A42-40AC-5F2B-D2EAAD0DF3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E3A37A-2DB2-6A8C-26A5-420A19D34A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D80410-C96B-3CB7-BCF1-DB1FFB0CF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BF9EA-8859-41F3-BA3E-B6A2FE4BAB20}" type="datetimeFigureOut">
              <a:rPr lang="en-IN" smtClean="0"/>
              <a:t>14-05-2026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B20233-8236-BC7D-1B2D-F9DA32D57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5F30FF-F8A6-8394-E2AB-FC05176B1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EB113-56E8-4A88-93C1-B1CD7A3968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9741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460A0-CC38-603F-DC80-0A6EA2CA0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9C645E-94DA-CC23-6495-9E117CED05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317DF2-C354-76AB-2450-942887960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BF9EA-8859-41F3-BA3E-B6A2FE4BAB20}" type="datetimeFigureOut">
              <a:rPr lang="en-IN" smtClean="0"/>
              <a:t>14-05-2026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A2FFDC-13DC-D740-D712-9375E1337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D66613-E86F-A2B0-2AA2-622E53F79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EB113-56E8-4A88-93C1-B1CD7A3968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59301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BB381E1-1450-CA3E-6517-057F557D54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8693C8-1327-2FB7-8E4A-25033D62B3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7C8EF8-B27F-C1C8-5E19-CFCA6F1580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BF9EA-8859-41F3-BA3E-B6A2FE4BAB20}" type="datetimeFigureOut">
              <a:rPr lang="en-IN" smtClean="0"/>
              <a:t>14-05-2026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45AEEC-1DB1-8EDA-300E-737EB55CA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1A6909-868F-E297-9744-24D903033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EB113-56E8-4A88-93C1-B1CD7A3968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71110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2C21FF-8A69-D89F-5A99-153AA0A7D4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945AB4-D046-28FA-2271-AE18246416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C76DED-88C5-22C3-199C-5963CDE787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8BF9EA-8859-41F3-BA3E-B6A2FE4BAB20}" type="datetimeFigureOut">
              <a:rPr lang="en-IN" smtClean="0"/>
              <a:t>14-05-2026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AF85AF-B65B-DE71-6247-46E2D08517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B6B9DF-D29D-B437-DEA6-70433F8C3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0EB113-56E8-4A88-93C1-B1CD7A3968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28553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>
            <a:extLst>
              <a:ext uri="{FF2B5EF4-FFF2-40B4-BE49-F238E27FC236}">
                <a16:creationId xmlns:a16="http://schemas.microsoft.com/office/drawing/2014/main" id="{155DA264-5D70-E11A-BFB2-2D92D266CB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8852" y="352425"/>
            <a:ext cx="3333750" cy="3076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 0">
            <a:extLst>
              <a:ext uri="{FF2B5EF4-FFF2-40B4-BE49-F238E27FC236}">
                <a16:creationId xmlns:a16="http://schemas.microsoft.com/office/drawing/2014/main" id="{2E2A9CF8-6EE2-84D7-0291-291167C8A8C2}"/>
              </a:ext>
            </a:extLst>
          </p:cNvPr>
          <p:cNvSpPr/>
          <p:nvPr/>
        </p:nvSpPr>
        <p:spPr>
          <a:xfrm>
            <a:off x="1851830" y="3688579"/>
            <a:ext cx="9149249" cy="9871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400" b="1" dirty="0">
                <a:solidFill>
                  <a:srgbClr val="1B1B27"/>
                </a:solidFill>
                <a:latin typeface="Cambria" panose="02040503050406030204" pitchFamily="18" charset="0"/>
                <a:ea typeface="Cambria" panose="02040503050406030204" pitchFamily="18" charset="0"/>
                <a:cs typeface="Corben" pitchFamily="34" charset="-120"/>
              </a:rPr>
              <a:t>Design, Fabrication &amp; Core Loss Modelling of a High-Frequency Transformer for Dual Active Bridge Converter</a:t>
            </a:r>
            <a:endParaRPr lang="en-US" sz="24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1B421A9E-B5CD-2FC7-18DA-8201D86CFBF8}"/>
              </a:ext>
            </a:extLst>
          </p:cNvPr>
          <p:cNvSpPr/>
          <p:nvPr/>
        </p:nvSpPr>
        <p:spPr>
          <a:xfrm>
            <a:off x="1851830" y="5099901"/>
            <a:ext cx="7947794" cy="9871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Presented by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: Sharath Kumar Bakam</a:t>
            </a:r>
          </a:p>
          <a:p>
            <a:pPr marL="0" indent="0" algn="ctr">
              <a:lnSpc>
                <a:spcPts val="1300"/>
              </a:lnSpc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ctr">
              <a:lnSpc>
                <a:spcPts val="1300"/>
              </a:lnSpc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Supervisor: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Dr. Abhinav Arya</a:t>
            </a:r>
          </a:p>
          <a:p>
            <a:pPr marL="0" indent="0" algn="ctr">
              <a:lnSpc>
                <a:spcPts val="1300"/>
              </a:lnSpc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ctr">
              <a:lnSpc>
                <a:spcPts val="1300"/>
              </a:lnSpc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Indian Institute of Technology Bhubaneswar |2026</a:t>
            </a:r>
          </a:p>
        </p:txBody>
      </p:sp>
    </p:spTree>
    <p:extLst>
      <p:ext uri="{BB962C8B-B14F-4D97-AF65-F5344CB8AC3E}">
        <p14:creationId xmlns:p14="http://schemas.microsoft.com/office/powerpoint/2010/main" val="20701854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6C575-A846-4AEE-08AD-3B75288661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4823" y="293916"/>
            <a:ext cx="10515600" cy="1325563"/>
          </a:xfrm>
        </p:spPr>
        <p:txBody>
          <a:bodyPr/>
          <a:lstStyle/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Introduction to problem statement: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9D3C4BD-10BD-7C19-C5E0-E1E23BE9C60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6688"/>
          <a:stretch>
            <a:fillRect/>
          </a:stretch>
        </p:blipFill>
        <p:spPr>
          <a:xfrm>
            <a:off x="6649631" y="1581041"/>
            <a:ext cx="5146243" cy="2923433"/>
          </a:xfrm>
          <a:prstGeom prst="rect">
            <a:avLst/>
          </a:prstGeom>
        </p:spPr>
      </p:pic>
      <p:sp>
        <p:nvSpPr>
          <p:cNvPr id="6" name="Shape 8">
            <a:extLst>
              <a:ext uri="{FF2B5EF4-FFF2-40B4-BE49-F238E27FC236}">
                <a16:creationId xmlns:a16="http://schemas.microsoft.com/office/drawing/2014/main" id="{69AC1B45-21C9-E47C-8B64-8647E0A76C55}"/>
              </a:ext>
            </a:extLst>
          </p:cNvPr>
          <p:cNvSpPr/>
          <p:nvPr/>
        </p:nvSpPr>
        <p:spPr>
          <a:xfrm>
            <a:off x="564823" y="4376395"/>
            <a:ext cx="4546603" cy="1685040"/>
          </a:xfrm>
          <a:prstGeom prst="roundRect">
            <a:avLst>
              <a:gd name="adj" fmla="val 4774"/>
            </a:avLst>
          </a:prstGeom>
          <a:solidFill>
            <a:srgbClr val="D2D9F9"/>
          </a:solidFill>
          <a:ln w="4763">
            <a:solidFill>
              <a:srgbClr val="B8BFDF"/>
            </a:solidFill>
            <a:prstDash val="solid"/>
          </a:ln>
        </p:spPr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3D1C44-48CF-613F-8653-F3640A888355}"/>
              </a:ext>
            </a:extLst>
          </p:cNvPr>
          <p:cNvSpPr txBox="1"/>
          <p:nvPr/>
        </p:nvSpPr>
        <p:spPr>
          <a:xfrm>
            <a:off x="857839" y="5001885"/>
            <a:ext cx="397811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Design and determination of accurate core losses for non- sinusoidal inputs for HFT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FB7ACF-2D60-9D3E-FFC4-A04E281876E9}"/>
              </a:ext>
            </a:extLst>
          </p:cNvPr>
          <p:cNvSpPr txBox="1"/>
          <p:nvPr/>
        </p:nvSpPr>
        <p:spPr>
          <a:xfrm>
            <a:off x="670094" y="1982274"/>
            <a:ext cx="514624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404155"/>
                </a:solidFill>
                <a:latin typeface="Cambria" panose="02040503050406030204" pitchFamily="18" charset="0"/>
                <a:ea typeface="Cambria" panose="02040503050406030204" pitchFamily="18" charset="0"/>
                <a:cs typeface="Nobile" pitchFamily="34" charset="-120"/>
              </a:rPr>
              <a:t>The </a:t>
            </a:r>
            <a:r>
              <a:rPr lang="en-US" b="1" dirty="0">
                <a:solidFill>
                  <a:srgbClr val="404155"/>
                </a:solidFill>
                <a:latin typeface="Cambria" panose="02040503050406030204" pitchFamily="18" charset="0"/>
                <a:ea typeface="Cambria" panose="02040503050406030204" pitchFamily="18" charset="0"/>
                <a:cs typeface="Nobile" pitchFamily="34" charset="-120"/>
              </a:rPr>
              <a:t>Dual Active Bridge (DAB)</a:t>
            </a:r>
            <a:r>
              <a:rPr lang="en-US" dirty="0">
                <a:solidFill>
                  <a:srgbClr val="404155"/>
                </a:solidFill>
                <a:latin typeface="Cambria" panose="02040503050406030204" pitchFamily="18" charset="0"/>
                <a:ea typeface="Cambria" panose="02040503050406030204" pitchFamily="18" charset="0"/>
                <a:cs typeface="Nobile" pitchFamily="34" charset="-120"/>
              </a:rPr>
              <a:t> converter is the leading isolated DC-DC topology for EV fast-charging, microgrids, and renewable energy links — offering bidirectional power flow via phase-shift modulation and inherent Zero Voltage Switching (ZVS).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94AC82-E7D8-B9CB-A2CA-4ECAE0491130}"/>
              </a:ext>
            </a:extLst>
          </p:cNvPr>
          <p:cNvSpPr txBox="1"/>
          <p:nvPr/>
        </p:nvSpPr>
        <p:spPr>
          <a:xfrm>
            <a:off x="857839" y="4504474"/>
            <a:ext cx="2347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Key challenge :</a:t>
            </a:r>
          </a:p>
        </p:txBody>
      </p:sp>
      <p:sp>
        <p:nvSpPr>
          <p:cNvPr id="10" name="Shape 2">
            <a:extLst>
              <a:ext uri="{FF2B5EF4-FFF2-40B4-BE49-F238E27FC236}">
                <a16:creationId xmlns:a16="http://schemas.microsoft.com/office/drawing/2014/main" id="{3A92938B-38A1-D1E3-D968-EACF5CB5CB4C}"/>
              </a:ext>
            </a:extLst>
          </p:cNvPr>
          <p:cNvSpPr/>
          <p:nvPr/>
        </p:nvSpPr>
        <p:spPr>
          <a:xfrm>
            <a:off x="6971270" y="4775443"/>
            <a:ext cx="3671592" cy="1685040"/>
          </a:xfrm>
          <a:prstGeom prst="roundRect">
            <a:avLst>
              <a:gd name="adj" fmla="val 4774"/>
            </a:avLst>
          </a:prstGeom>
          <a:solidFill>
            <a:srgbClr val="D2D9F9"/>
          </a:solidFill>
          <a:ln w="4763">
            <a:solidFill>
              <a:srgbClr val="B8BFDF"/>
            </a:solidFill>
            <a:prstDash val="solid"/>
          </a:ln>
        </p:spPr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F75402E-E0A6-EAEF-4303-3FAE1ECDA5FB}"/>
              </a:ext>
            </a:extLst>
          </p:cNvPr>
          <p:cNvSpPr txBox="1"/>
          <p:nvPr/>
        </p:nvSpPr>
        <p:spPr>
          <a:xfrm>
            <a:off x="7277493" y="5001885"/>
            <a:ext cx="299498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Input voltage:180-270  V</a:t>
            </a:r>
          </a:p>
          <a:p>
            <a:r>
              <a:rPr lang="en-IN" dirty="0"/>
              <a:t>Output voltage: 300-420 V</a:t>
            </a:r>
          </a:p>
          <a:p>
            <a:r>
              <a:rPr lang="en-IN" dirty="0"/>
              <a:t>Power = 5 kW</a:t>
            </a:r>
          </a:p>
          <a:p>
            <a:r>
              <a:rPr lang="en-IN" dirty="0"/>
              <a:t>Switching frequency = 100kHz</a:t>
            </a:r>
          </a:p>
        </p:txBody>
      </p:sp>
    </p:spTree>
    <p:extLst>
      <p:ext uri="{BB962C8B-B14F-4D97-AF65-F5344CB8AC3E}">
        <p14:creationId xmlns:p14="http://schemas.microsoft.com/office/powerpoint/2010/main" val="9121717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DA315-B809-20DE-B9B5-5A032E289C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Core Loss Modelling: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5A14F461-A1B8-C07D-667E-0DD7FA4C575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502" y="1965251"/>
            <a:ext cx="5286375" cy="2714625"/>
          </a:xfrm>
          <a:prstGeom prst="rect">
            <a:avLst/>
          </a:prstGeom>
          <a:noFill/>
          <a:ln>
            <a:solidFill>
              <a:schemeClr val="accent1">
                <a:lumMod val="5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DF9EA8FF-765C-E4B2-D2C1-6F219B839C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9390" y="1965251"/>
            <a:ext cx="5286375" cy="2714625"/>
          </a:xfrm>
          <a:prstGeom prst="rect">
            <a:avLst/>
          </a:prstGeom>
          <a:noFill/>
          <a:ln>
            <a:solidFill>
              <a:schemeClr val="accent1">
                <a:lumMod val="5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0020233-0E70-D5B1-7A1F-608E1BC0A275}"/>
              </a:ext>
            </a:extLst>
          </p:cNvPr>
          <p:cNvSpPr txBox="1"/>
          <p:nvPr/>
        </p:nvSpPr>
        <p:spPr>
          <a:xfrm>
            <a:off x="645442" y="1965251"/>
            <a:ext cx="481474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IN" sz="1800" b="1" i="0" u="none" strike="noStrike" dirty="0">
                <a:solidFill>
                  <a:srgbClr val="002B49"/>
                </a:solidFill>
                <a:effectLst/>
                <a:latin typeface="Merriweather" panose="020F0502020204030204" pitchFamily="2" charset="0"/>
              </a:rPr>
              <a:t>Standard Steinmetz</a:t>
            </a:r>
            <a:r>
              <a:rPr lang="en-IN" b="1" dirty="0">
                <a:solidFill>
                  <a:srgbClr val="002B49"/>
                </a:solidFill>
                <a:latin typeface="Merriweather" panose="020F0502020204030204" pitchFamily="2" charset="0"/>
              </a:rPr>
              <a:t> Equation</a:t>
            </a:r>
            <a:r>
              <a:rPr lang="en-IN" sz="1800" b="1" i="0" u="none" strike="noStrike" dirty="0">
                <a:solidFill>
                  <a:srgbClr val="002B49"/>
                </a:solidFill>
                <a:effectLst/>
                <a:latin typeface="Merriweather" panose="020F0502020204030204" pitchFamily="2" charset="0"/>
              </a:rPr>
              <a:t> (SE):</a:t>
            </a:r>
            <a:endParaRPr lang="en-IN" b="0" dirty="0">
              <a:effectLst/>
            </a:endParaRPr>
          </a:p>
          <a:p>
            <a:pPr>
              <a:buNone/>
            </a:pPr>
            <a:br>
              <a:rPr lang="en-IN" dirty="0"/>
            </a:b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E0A678-C6AD-43DA-E1E7-A8822BC89B4F}"/>
              </a:ext>
            </a:extLst>
          </p:cNvPr>
          <p:cNvSpPr txBox="1"/>
          <p:nvPr/>
        </p:nvSpPr>
        <p:spPr>
          <a:xfrm>
            <a:off x="6638827" y="2083560"/>
            <a:ext cx="490773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IN" sz="1800" b="1" i="0" u="none" strike="noStrike" dirty="0">
                <a:solidFill>
                  <a:srgbClr val="002B49"/>
                </a:solidFill>
                <a:effectLst/>
                <a:latin typeface="Merriweather" panose="00000500000000000000" pitchFamily="2" charset="0"/>
              </a:rPr>
              <a:t>Improved Generalized SE (</a:t>
            </a:r>
            <a:r>
              <a:rPr lang="en-IN" sz="1800" b="1" i="0" u="none" strike="noStrike" dirty="0" err="1">
                <a:solidFill>
                  <a:srgbClr val="002B49"/>
                </a:solidFill>
                <a:effectLst/>
                <a:latin typeface="Merriweather" panose="00000500000000000000" pitchFamily="2" charset="0"/>
              </a:rPr>
              <a:t>iGSE</a:t>
            </a:r>
            <a:r>
              <a:rPr lang="en-IN" sz="1800" b="1" i="0" u="none" strike="noStrike" dirty="0">
                <a:solidFill>
                  <a:srgbClr val="002B49"/>
                </a:solidFill>
                <a:effectLst/>
                <a:latin typeface="Merriweather" panose="00000500000000000000" pitchFamily="2" charset="0"/>
              </a:rPr>
              <a:t>)</a:t>
            </a:r>
            <a:endParaRPr lang="en-IN" b="0" dirty="0">
              <a:effectLst/>
            </a:endParaRPr>
          </a:p>
          <a:p>
            <a:pPr>
              <a:buNone/>
            </a:pPr>
            <a:br>
              <a:rPr lang="en-IN" dirty="0"/>
            </a:br>
            <a:r>
              <a:rPr lang="en-IN" dirty="0"/>
              <a:t>More accurate for non-sinusoidal waveforms.</a:t>
            </a:r>
          </a:p>
          <a:p>
            <a:pPr>
              <a:buNone/>
            </a:pPr>
            <a:r>
              <a:rPr lang="en-IN" dirty="0"/>
              <a:t>As it captures the instantaneous flux changes dB/dt.</a:t>
            </a:r>
          </a:p>
          <a:p>
            <a:pPr>
              <a:buNone/>
            </a:pPr>
            <a:r>
              <a:rPr lang="en-IN" dirty="0"/>
              <a:t>More accurate for square wave and PWM excitation and suitable for DAB and LLC (High frequency converters)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B2902F8-E4AC-6DDE-7B45-5080D7D6A134}"/>
              </a:ext>
            </a:extLst>
          </p:cNvPr>
          <p:cNvSpPr txBox="1"/>
          <p:nvPr/>
        </p:nvSpPr>
        <p:spPr>
          <a:xfrm>
            <a:off x="809625" y="2561931"/>
            <a:ext cx="476549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Used  for sinusoidal excitations and accurate mainly for sine wave flux as it doesn’t consider varying dB/dt it would become less accurate for PWM and square wave converters.</a:t>
            </a:r>
          </a:p>
          <a:p>
            <a:pPr algn="ctr"/>
            <a:endParaRPr lang="en-US" dirty="0"/>
          </a:p>
          <a:p>
            <a:pPr algn="ctr"/>
            <a:r>
              <a:rPr lang="en-US" dirty="0" err="1"/>
              <a:t>P</a:t>
            </a:r>
            <a:r>
              <a:rPr lang="en-US" baseline="-25000" dirty="0" err="1"/>
              <a:t>v</a:t>
            </a:r>
            <a:r>
              <a:rPr lang="en-US" dirty="0"/>
              <a:t> = k  f</a:t>
            </a:r>
            <a:r>
              <a:rPr lang="en-US" baseline="30000" dirty="0"/>
              <a:t>α</a:t>
            </a:r>
            <a:r>
              <a:rPr lang="en-US" dirty="0"/>
              <a:t> B</a:t>
            </a:r>
            <a:r>
              <a:rPr lang="en-US" baseline="-25000" dirty="0"/>
              <a:t>m</a:t>
            </a:r>
            <a:r>
              <a:rPr lang="en-US" baseline="30000" dirty="0"/>
              <a:t>β</a:t>
            </a:r>
            <a:r>
              <a:rPr lang="en-IN" dirty="0"/>
              <a:t> </a:t>
            </a:r>
          </a:p>
          <a:p>
            <a:r>
              <a:rPr lang="en-IN" dirty="0"/>
              <a:t>Where , </a:t>
            </a:r>
            <a:r>
              <a:rPr lang="en-US" dirty="0"/>
              <a:t>α , β ,k are Steinmetz parameters.</a:t>
            </a:r>
            <a:endParaRPr lang="en-IN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7D109BCB-A9A9-D655-8EE5-0FFB817B43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5152" y="4901445"/>
            <a:ext cx="3459412" cy="1591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12203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7E16D-5C51-97F2-2FB4-CC228455E0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653074" cy="1325563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1B1B27"/>
                </a:solidFill>
                <a:latin typeface="Cambria" panose="02040503050406030204" pitchFamily="18" charset="0"/>
                <a:ea typeface="Cambria" panose="02040503050406030204" pitchFamily="18" charset="0"/>
                <a:cs typeface="Corben" pitchFamily="34" charset="-120"/>
              </a:rPr>
              <a:t>Extracting Steinmetz Parameters from Datasheets:</a:t>
            </a:r>
            <a:b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</a:b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2A9DFC7-688E-D918-4E59-B8AE7D1D64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6519" y="1506133"/>
            <a:ext cx="3720445" cy="431128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88F3065-86F1-3948-178B-95A661358B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1690" y="1506133"/>
            <a:ext cx="3541265" cy="41392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F7273FC-A39E-AEB6-92E8-20460432ED08}"/>
              </a:ext>
            </a:extLst>
          </p:cNvPr>
          <p:cNvSpPr txBox="1"/>
          <p:nvPr/>
        </p:nvSpPr>
        <p:spPr>
          <a:xfrm>
            <a:off x="4996207" y="1435860"/>
            <a:ext cx="372044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404155"/>
                </a:solidFill>
                <a:latin typeface="Cambria" panose="02040503050406030204" pitchFamily="18" charset="0"/>
                <a:ea typeface="Cambria" panose="02040503050406030204" pitchFamily="18" charset="0"/>
                <a:cs typeface="Corben" pitchFamily="34" charset="-120"/>
              </a:rPr>
              <a:t>Frequency Exponent α:</a:t>
            </a:r>
          </a:p>
          <a:p>
            <a:r>
              <a:rPr lang="en-US" dirty="0">
                <a:solidFill>
                  <a:srgbClr val="404155"/>
                </a:solidFill>
                <a:latin typeface="Cambria" panose="02040503050406030204" pitchFamily="18" charset="0"/>
                <a:ea typeface="Cambria" panose="02040503050406030204" pitchFamily="18" charset="0"/>
                <a:cs typeface="Nobile" pitchFamily="34" charset="-120"/>
              </a:rPr>
              <a:t>Log-log slope of </a:t>
            </a:r>
            <a:r>
              <a:rPr lang="en-US" dirty="0" err="1">
                <a:solidFill>
                  <a:srgbClr val="404155"/>
                </a:solidFill>
                <a:latin typeface="Cambria" panose="02040503050406030204" pitchFamily="18" charset="0"/>
                <a:ea typeface="Cambria" panose="02040503050406030204" pitchFamily="18" charset="0"/>
                <a:cs typeface="Nobile" pitchFamily="34" charset="-120"/>
              </a:rPr>
              <a:t>Pv</a:t>
            </a:r>
            <a:r>
              <a:rPr lang="en-US" dirty="0">
                <a:solidFill>
                  <a:srgbClr val="404155"/>
                </a:solidFill>
                <a:latin typeface="Cambria" panose="02040503050406030204" pitchFamily="18" charset="0"/>
                <a:ea typeface="Cambria" panose="02040503050406030204" pitchFamily="18" charset="0"/>
                <a:cs typeface="Nobile" pitchFamily="34" charset="-120"/>
              </a:rPr>
              <a:t> vs f at B = 0.2 T, 100°C → </a:t>
            </a:r>
            <a:r>
              <a:rPr lang="en-US" b="1" dirty="0">
                <a:solidFill>
                  <a:srgbClr val="404155"/>
                </a:solidFill>
                <a:latin typeface="Cambria" panose="02040503050406030204" pitchFamily="18" charset="0"/>
                <a:ea typeface="Cambria" panose="02040503050406030204" pitchFamily="18" charset="0"/>
                <a:cs typeface="Nobile" pitchFamily="34" charset="-120"/>
              </a:rPr>
              <a:t>α ≈ 1.45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2F18C13-FEB2-B19D-A99B-C9A911A0A085}"/>
              </a:ext>
            </a:extLst>
          </p:cNvPr>
          <p:cNvSpPr/>
          <p:nvPr/>
        </p:nvSpPr>
        <p:spPr>
          <a:xfrm>
            <a:off x="4970425" y="1435860"/>
            <a:ext cx="3541265" cy="1152226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C9B1B4BA-8AC3-C1BC-5637-7F048998C2E1}"/>
              </a:ext>
            </a:extLst>
          </p:cNvPr>
          <p:cNvSpPr/>
          <p:nvPr/>
        </p:nvSpPr>
        <p:spPr>
          <a:xfrm>
            <a:off x="3785074" y="1941925"/>
            <a:ext cx="980388" cy="226240"/>
          </a:xfrm>
          <a:prstGeom prst="rightArrow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46A2D41-11B0-C1B5-DBB0-8AC10CC80812}"/>
              </a:ext>
            </a:extLst>
          </p:cNvPr>
          <p:cNvSpPr/>
          <p:nvPr/>
        </p:nvSpPr>
        <p:spPr>
          <a:xfrm>
            <a:off x="4095945" y="3164425"/>
            <a:ext cx="2931737" cy="1325563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308964D-90A4-38C3-08AB-C540785B5339}"/>
              </a:ext>
            </a:extLst>
          </p:cNvPr>
          <p:cNvSpPr txBox="1"/>
          <p:nvPr/>
        </p:nvSpPr>
        <p:spPr>
          <a:xfrm>
            <a:off x="4095945" y="3164425"/>
            <a:ext cx="312970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Flux Density Exponent β:</a:t>
            </a:r>
            <a:endParaRPr lang="en-US" b="1" dirty="0"/>
          </a:p>
          <a:p>
            <a:endParaRPr lang="en-US" sz="1600" dirty="0">
              <a:solidFill>
                <a:srgbClr val="404155"/>
              </a:solidFill>
              <a:latin typeface="Nobile" pitchFamily="34" charset="0"/>
              <a:ea typeface="Nobile" pitchFamily="34" charset="-122"/>
              <a:cs typeface="Nobile" pitchFamily="34" charset="-120"/>
            </a:endParaRPr>
          </a:p>
          <a:p>
            <a:r>
              <a:rPr lang="en-US" sz="16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Log-log slope of </a:t>
            </a:r>
            <a:r>
              <a:rPr lang="en-US" sz="1600" dirty="0" err="1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Pv</a:t>
            </a:r>
            <a:r>
              <a:rPr lang="en-US" sz="16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vs B at f = 100 kHz, 100°C → </a:t>
            </a:r>
            <a:r>
              <a:rPr lang="en-US" sz="160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β ≈ 2.8</a:t>
            </a:r>
            <a:endParaRPr lang="en-US" sz="1600" dirty="0"/>
          </a:p>
          <a:p>
            <a:endParaRPr lang="en-IN" dirty="0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55FF416C-7AD9-0334-61D8-06371280A6C9}"/>
              </a:ext>
            </a:extLst>
          </p:cNvPr>
          <p:cNvSpPr/>
          <p:nvPr/>
        </p:nvSpPr>
        <p:spPr>
          <a:xfrm>
            <a:off x="7635714" y="3658821"/>
            <a:ext cx="980388" cy="226240"/>
          </a:xfrm>
          <a:prstGeom prst="rightArrow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A723E1E-7661-694C-321C-DE101A78A04E}"/>
              </a:ext>
            </a:extLst>
          </p:cNvPr>
          <p:cNvSpPr txBox="1"/>
          <p:nvPr/>
        </p:nvSpPr>
        <p:spPr>
          <a:xfrm>
            <a:off x="4283616" y="5258435"/>
            <a:ext cx="4033942" cy="12586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404155"/>
                </a:solidFill>
                <a:latin typeface="Cambria" panose="02040503050406030204" pitchFamily="18" charset="0"/>
                <a:ea typeface="Cambria" panose="02040503050406030204" pitchFamily="18" charset="0"/>
                <a:cs typeface="Corben" pitchFamily="34" charset="-120"/>
              </a:rPr>
              <a:t>Steinmetz Coefficient k:</a:t>
            </a:r>
          </a:p>
          <a:p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ts val="1450"/>
              </a:lnSpc>
            </a:pPr>
            <a:r>
              <a:rPr lang="en-US" dirty="0">
                <a:solidFill>
                  <a:srgbClr val="404155"/>
                </a:solidFill>
                <a:latin typeface="Cambria" panose="02040503050406030204" pitchFamily="18" charset="0"/>
                <a:ea typeface="Cambria" panose="02040503050406030204" pitchFamily="18" charset="0"/>
                <a:cs typeface="Nobile" pitchFamily="34" charset="-120"/>
              </a:rPr>
              <a:t>Using </a:t>
            </a:r>
            <a:r>
              <a:rPr lang="en-US" dirty="0" err="1">
                <a:solidFill>
                  <a:srgbClr val="404155"/>
                </a:solidFill>
                <a:latin typeface="Cambria" panose="02040503050406030204" pitchFamily="18" charset="0"/>
                <a:ea typeface="Cambria" panose="02040503050406030204" pitchFamily="18" charset="0"/>
                <a:cs typeface="Nobile" pitchFamily="34" charset="-120"/>
              </a:rPr>
              <a:t>Pv</a:t>
            </a:r>
            <a:r>
              <a:rPr lang="en-US" dirty="0">
                <a:solidFill>
                  <a:srgbClr val="404155"/>
                </a:solidFill>
                <a:latin typeface="Cambria" panose="02040503050406030204" pitchFamily="18" charset="0"/>
                <a:ea typeface="Cambria" panose="02040503050406030204" pitchFamily="18" charset="0"/>
                <a:cs typeface="Nobile" pitchFamily="34" charset="-120"/>
              </a:rPr>
              <a:t> = 375 kW/m³ at 100 kHz, </a:t>
            </a:r>
          </a:p>
          <a:p>
            <a:pPr>
              <a:lnSpc>
                <a:spcPts val="1450"/>
              </a:lnSpc>
            </a:pPr>
            <a:r>
              <a:rPr lang="en-US" dirty="0">
                <a:solidFill>
                  <a:srgbClr val="404155"/>
                </a:solidFill>
                <a:latin typeface="Cambria" panose="02040503050406030204" pitchFamily="18" charset="0"/>
                <a:ea typeface="Cambria" panose="02040503050406030204" pitchFamily="18" charset="0"/>
                <a:cs typeface="Nobile" pitchFamily="34" charset="-120"/>
              </a:rPr>
              <a:t>B=0.2 T → </a:t>
            </a:r>
            <a:r>
              <a:rPr lang="en-US" b="1" dirty="0">
                <a:solidFill>
                  <a:srgbClr val="404155"/>
                </a:solidFill>
                <a:latin typeface="Cambria" panose="02040503050406030204" pitchFamily="18" charset="0"/>
                <a:ea typeface="Cambria" panose="02040503050406030204" pitchFamily="18" charset="0"/>
                <a:cs typeface="Nobile" pitchFamily="34" charset="-120"/>
              </a:rPr>
              <a:t>k ≈ 42.774 kW/m³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ts val="1450"/>
              </a:lnSpc>
            </a:pPr>
            <a:r>
              <a:rPr lang="en-US" dirty="0" err="1">
                <a:solidFill>
                  <a:srgbClr val="404155"/>
                </a:solidFill>
                <a:latin typeface="Cambria" panose="02040503050406030204" pitchFamily="18" charset="0"/>
                <a:ea typeface="Cambria" panose="02040503050406030204" pitchFamily="18" charset="0"/>
                <a:cs typeface="Nobile" pitchFamily="34" charset="-120"/>
              </a:rPr>
              <a:t>keq</a:t>
            </a:r>
            <a:r>
              <a:rPr lang="en-US" dirty="0">
                <a:solidFill>
                  <a:srgbClr val="404155"/>
                </a:solidFill>
                <a:latin typeface="Cambria" panose="02040503050406030204" pitchFamily="18" charset="0"/>
                <a:ea typeface="Cambria" panose="02040503050406030204" pitchFamily="18" charset="0"/>
                <a:cs typeface="Nobile" pitchFamily="34" charset="-120"/>
              </a:rPr>
              <a:t> = 0.00191 kW/m³ (in Hz)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BDCC407-27F6-8A9C-DBB3-DF0AC8EE8982}"/>
              </a:ext>
            </a:extLst>
          </p:cNvPr>
          <p:cNvSpPr/>
          <p:nvPr/>
        </p:nvSpPr>
        <p:spPr>
          <a:xfrm>
            <a:off x="4060080" y="5279124"/>
            <a:ext cx="4013622" cy="1287340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E9D80B4-3917-0D82-3C6B-26B7733C5B8D}"/>
              </a:ext>
            </a:extLst>
          </p:cNvPr>
          <p:cNvSpPr txBox="1"/>
          <p:nvPr/>
        </p:nvSpPr>
        <p:spPr>
          <a:xfrm>
            <a:off x="838200" y="5678918"/>
            <a:ext cx="24231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N87 Ferrite datasheet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DFC97D5-19F0-C443-0DB5-040D5D8A34D2}"/>
              </a:ext>
            </a:extLst>
          </p:cNvPr>
          <p:cNvSpPr txBox="1"/>
          <p:nvPr/>
        </p:nvSpPr>
        <p:spPr>
          <a:xfrm>
            <a:off x="10279694" y="5485211"/>
            <a:ext cx="24231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N87 Ferrite datasheet</a:t>
            </a:r>
          </a:p>
        </p:txBody>
      </p:sp>
    </p:spTree>
    <p:extLst>
      <p:ext uri="{BB962C8B-B14F-4D97-AF65-F5344CB8AC3E}">
        <p14:creationId xmlns:p14="http://schemas.microsoft.com/office/powerpoint/2010/main" val="18204872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BC07E-1717-FA0E-545B-111309914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990" y="628931"/>
            <a:ext cx="10515600" cy="752475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1B1B27"/>
                </a:solidFill>
                <a:latin typeface="Cambria" panose="02040503050406030204" pitchFamily="18" charset="0"/>
                <a:ea typeface="Cambria" panose="02040503050406030204" pitchFamily="18" charset="0"/>
                <a:cs typeface="Corben" pitchFamily="34" charset="-120"/>
              </a:rPr>
              <a:t>Excel Automation Tool:</a:t>
            </a:r>
            <a:b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</a:b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7A4E994-420E-2C4B-27A2-ADDA42886B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92320" y="1452552"/>
            <a:ext cx="7359993" cy="330232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4293DC8-DD0E-DE80-1D4D-21DC4CB9833D}"/>
              </a:ext>
            </a:extLst>
          </p:cNvPr>
          <p:cNvSpPr txBox="1"/>
          <p:nvPr/>
        </p:nvSpPr>
        <p:spPr>
          <a:xfrm>
            <a:off x="274320" y="1818640"/>
            <a:ext cx="4226560" cy="7463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650"/>
              </a:lnSpc>
            </a:pPr>
            <a:r>
              <a:rPr lang="en-US" dirty="0">
                <a:solidFill>
                  <a:srgbClr val="404155"/>
                </a:solidFill>
                <a:latin typeface="Cambria" panose="02040503050406030204" pitchFamily="18" charset="0"/>
                <a:ea typeface="Cambria" panose="02040503050406030204" pitchFamily="18" charset="0"/>
                <a:cs typeface="Nobile" pitchFamily="34" charset="-120"/>
              </a:rPr>
              <a:t>An advanced </a:t>
            </a:r>
            <a:r>
              <a:rPr lang="en-US" b="1" dirty="0" err="1">
                <a:solidFill>
                  <a:srgbClr val="404155"/>
                </a:solidFill>
                <a:latin typeface="Cambria" panose="02040503050406030204" pitchFamily="18" charset="0"/>
                <a:ea typeface="Cambria" panose="02040503050406030204" pitchFamily="18" charset="0"/>
                <a:cs typeface="Nobile" pitchFamily="34" charset="-120"/>
              </a:rPr>
              <a:t>iGSE</a:t>
            </a:r>
            <a:r>
              <a:rPr lang="en-US" b="1" dirty="0">
                <a:solidFill>
                  <a:srgbClr val="404155"/>
                </a:solidFill>
                <a:latin typeface="Cambria" panose="02040503050406030204" pitchFamily="18" charset="0"/>
                <a:ea typeface="Cambria" panose="02040503050406030204" pitchFamily="18" charset="0"/>
                <a:cs typeface="Nobile" pitchFamily="34" charset="-120"/>
              </a:rPr>
              <a:t> core loss calculator</a:t>
            </a:r>
            <a:r>
              <a:rPr lang="en-US" dirty="0">
                <a:solidFill>
                  <a:srgbClr val="404155"/>
                </a:solidFill>
                <a:latin typeface="Cambria" panose="02040503050406030204" pitchFamily="18" charset="0"/>
                <a:ea typeface="Cambria" panose="02040503050406030204" pitchFamily="18" charset="0"/>
                <a:cs typeface="Nobile" pitchFamily="34" charset="-120"/>
              </a:rPr>
              <a:t> was built in Excel supporting two waveform modes via a drop-down toggle.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B247FADB-9E7C-7FAD-FB0C-4B4BEAE27F36}"/>
              </a:ext>
            </a:extLst>
          </p:cNvPr>
          <p:cNvSpPr/>
          <p:nvPr/>
        </p:nvSpPr>
        <p:spPr>
          <a:xfrm>
            <a:off x="551850" y="3300381"/>
            <a:ext cx="366013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Nobile" pitchFamily="34" charset="-120"/>
              </a:rPr>
              <a:t>At 100 kHz, 0.2 T: </a:t>
            </a:r>
          </a:p>
          <a:p>
            <a:pPr marL="0" indent="0" algn="l">
              <a:lnSpc>
                <a:spcPts val="165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Nobile" pitchFamily="34" charset="-120"/>
              </a:rPr>
              <a:t>Tool output = </a:t>
            </a:r>
            <a:r>
              <a:rPr lang="en-US" sz="2000" b="1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Nobile" pitchFamily="34" charset="-120"/>
              </a:rPr>
              <a:t>345.99 kW/m³</a:t>
            </a:r>
            <a:r>
              <a:rPr lang="en-US" sz="2000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Nobile" pitchFamily="34" charset="-120"/>
              </a:rPr>
              <a:t> — closely matching literature [8]. Frequency correction: keq = k × 1000−α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FD1E4629-8125-E098-8E40-0099B2BC0D4B}"/>
              </a:ext>
            </a:extLst>
          </p:cNvPr>
          <p:cNvSpPr/>
          <p:nvPr/>
        </p:nvSpPr>
        <p:spPr>
          <a:xfrm>
            <a:off x="455990" y="5391212"/>
            <a:ext cx="4674810" cy="912540"/>
          </a:xfrm>
          <a:prstGeom prst="roundRect">
            <a:avLst>
              <a:gd name="adj" fmla="val 6219"/>
            </a:avLst>
          </a:prstGeom>
          <a:solidFill>
            <a:srgbClr val="F9F9FF">
              <a:alpha val="95000"/>
            </a:srgbClr>
          </a:solidFill>
          <a:ln w="19050">
            <a:solidFill>
              <a:srgbClr val="B8BFDF"/>
            </a:solidFill>
            <a:prstDash val="solid"/>
          </a:ln>
        </p:spPr>
      </p:sp>
      <p:sp>
        <p:nvSpPr>
          <p:cNvPr id="8" name="Shape 7">
            <a:extLst>
              <a:ext uri="{FF2B5EF4-FFF2-40B4-BE49-F238E27FC236}">
                <a16:creationId xmlns:a16="http://schemas.microsoft.com/office/drawing/2014/main" id="{9D8263FD-6E46-95B9-2D65-B2D4B49ABB14}"/>
              </a:ext>
            </a:extLst>
          </p:cNvPr>
          <p:cNvSpPr/>
          <p:nvPr/>
        </p:nvSpPr>
        <p:spPr>
          <a:xfrm>
            <a:off x="6096000" y="5391212"/>
            <a:ext cx="4572816" cy="912540"/>
          </a:xfrm>
          <a:prstGeom prst="roundRect">
            <a:avLst>
              <a:gd name="adj" fmla="val 6219"/>
            </a:avLst>
          </a:prstGeom>
          <a:solidFill>
            <a:srgbClr val="F9F9FF">
              <a:alpha val="95000"/>
            </a:srgbClr>
          </a:solidFill>
          <a:ln w="19050">
            <a:solidFill>
              <a:srgbClr val="B8BFDF"/>
            </a:solidFill>
            <a:prstDash val="solid"/>
          </a:ln>
        </p:spPr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A0B5B82-FBF7-7C98-75A9-4A6B16081BA8}"/>
              </a:ext>
            </a:extLst>
          </p:cNvPr>
          <p:cNvSpPr txBox="1"/>
          <p:nvPr/>
        </p:nvSpPr>
        <p:spPr>
          <a:xfrm>
            <a:off x="551850" y="5483676"/>
            <a:ext cx="38430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Standard Square Wave:</a:t>
            </a:r>
            <a:endParaRPr lang="en-US" b="1" dirty="0"/>
          </a:p>
          <a:p>
            <a:endParaRPr lang="en-IN" b="1" dirty="0"/>
          </a:p>
        </p:txBody>
      </p:sp>
      <p:pic>
        <p:nvPicPr>
          <p:cNvPr id="10" name="Image 1" descr="preencoded.png">
            <a:extLst>
              <a:ext uri="{FF2B5EF4-FFF2-40B4-BE49-F238E27FC236}">
                <a16:creationId xmlns:a16="http://schemas.microsoft.com/office/drawing/2014/main" id="{1CDFB4E7-540E-5DB5-6309-8515E34692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213" y="5923789"/>
            <a:ext cx="4021147" cy="248441"/>
          </a:xfrm>
          <a:prstGeom prst="rect">
            <a:avLst/>
          </a:prstGeom>
        </p:spPr>
      </p:pic>
      <p:sp>
        <p:nvSpPr>
          <p:cNvPr id="11" name="Text 8">
            <a:extLst>
              <a:ext uri="{FF2B5EF4-FFF2-40B4-BE49-F238E27FC236}">
                <a16:creationId xmlns:a16="http://schemas.microsoft.com/office/drawing/2014/main" id="{002A24D3-71D1-25CE-9A1B-B8DFEFFF7CC4}"/>
              </a:ext>
            </a:extLst>
          </p:cNvPr>
          <p:cNvSpPr/>
          <p:nvPr/>
        </p:nvSpPr>
        <p:spPr>
          <a:xfrm>
            <a:off x="6260272" y="5491616"/>
            <a:ext cx="2835101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00" b="1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Quasi-Square Wave (3-Level PWM):</a:t>
            </a:r>
            <a:endParaRPr lang="en-US" sz="1600" b="1" dirty="0"/>
          </a:p>
        </p:txBody>
      </p:sp>
      <p:pic>
        <p:nvPicPr>
          <p:cNvPr id="12" name="Image 2" descr="preencoded.png">
            <a:extLst>
              <a:ext uri="{FF2B5EF4-FFF2-40B4-BE49-F238E27FC236}">
                <a16:creationId xmlns:a16="http://schemas.microsoft.com/office/drawing/2014/main" id="{2A2517E8-B5D6-E3D6-72BA-14BBAEBD76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6008" y="5888122"/>
            <a:ext cx="4572816" cy="282525"/>
          </a:xfrm>
          <a:prstGeom prst="rect">
            <a:avLst/>
          </a:prstGeom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3673745-8760-DE5C-BE09-7C084A74A1F7}"/>
              </a:ext>
            </a:extLst>
          </p:cNvPr>
          <p:cNvSpPr/>
          <p:nvPr/>
        </p:nvSpPr>
        <p:spPr>
          <a:xfrm>
            <a:off x="365760" y="3119940"/>
            <a:ext cx="3846220" cy="1483360"/>
          </a:xfrm>
          <a:prstGeom prst="round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12107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B91F8A9-5F96-3EEF-FBC8-AE09D8DCA6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5716" y="698776"/>
            <a:ext cx="4883324" cy="456473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CDF576B-D2BB-DCD2-D633-A1811EA807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8332" y="1295220"/>
            <a:ext cx="6112168" cy="3371850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AAECB8A-DC05-E8EB-01EE-D0CA82EEDFD1}"/>
              </a:ext>
            </a:extLst>
          </p:cNvPr>
          <p:cNvCxnSpPr/>
          <p:nvPr/>
        </p:nvCxnSpPr>
        <p:spPr>
          <a:xfrm flipV="1">
            <a:off x="3535680" y="883920"/>
            <a:ext cx="0" cy="342392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DC39BC9-6B0E-903C-6F1D-4CF04E78FC43}"/>
              </a:ext>
            </a:extLst>
          </p:cNvPr>
          <p:cNvCxnSpPr/>
          <p:nvPr/>
        </p:nvCxnSpPr>
        <p:spPr>
          <a:xfrm flipH="1">
            <a:off x="629920" y="2021840"/>
            <a:ext cx="290576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4300055F-5B45-A1C3-88DB-A133D3638968}"/>
              </a:ext>
            </a:extLst>
          </p:cNvPr>
          <p:cNvSpPr txBox="1"/>
          <p:nvPr/>
        </p:nvSpPr>
        <p:spPr>
          <a:xfrm>
            <a:off x="335280" y="5588000"/>
            <a:ext cx="46837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Core loss results of N87 material when excited with square wave with D=0.5.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At f= 100kHz and B=0.2T losses comes out around 350kW/m</a:t>
            </a:r>
            <a:r>
              <a:rPr lang="en-IN" baseline="30000" dirty="0">
                <a:latin typeface="Cambria" panose="02040503050406030204" pitchFamily="18" charset="0"/>
                <a:ea typeface="Cambria" panose="02040503050406030204" pitchFamily="18" charset="0"/>
              </a:rPr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A99C2DE-2EE0-460E-1AD6-109F2EDC44C7}"/>
              </a:ext>
            </a:extLst>
          </p:cNvPr>
          <p:cNvSpPr txBox="1"/>
          <p:nvPr/>
        </p:nvSpPr>
        <p:spPr>
          <a:xfrm>
            <a:off x="5679440" y="5415280"/>
            <a:ext cx="54660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Core losses measured from IGSE tool, precisely matches established literature profile under 100kHz and 0.2T at 100</a:t>
            </a:r>
            <a:r>
              <a:rPr lang="en-IN" baseline="30000" dirty="0">
                <a:latin typeface="Cambria" panose="02040503050406030204" pitchFamily="18" charset="0"/>
                <a:ea typeface="Cambria" panose="02040503050406030204" pitchFamily="18" charset="0"/>
              </a:rPr>
              <a:t>o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C for N87 material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88571B0-F510-7541-D703-017BC19A7759}"/>
              </a:ext>
            </a:extLst>
          </p:cNvPr>
          <p:cNvSpPr txBox="1"/>
          <p:nvPr/>
        </p:nvSpPr>
        <p:spPr>
          <a:xfrm>
            <a:off x="8737600" y="345440"/>
            <a:ext cx="3454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latin typeface="Cambria" panose="02040503050406030204" pitchFamily="18" charset="0"/>
                <a:ea typeface="Cambria" panose="02040503050406030204" pitchFamily="18" charset="0"/>
              </a:rPr>
              <a:t>Multi wave form support:</a:t>
            </a:r>
          </a:p>
          <a:p>
            <a:r>
              <a:rPr lang="en-IN" sz="1600" dirty="0">
                <a:latin typeface="Cambria" panose="02040503050406030204" pitchFamily="18" charset="0"/>
                <a:ea typeface="Cambria" panose="02040503050406030204" pitchFamily="18" charset="0"/>
              </a:rPr>
              <a:t>Toggles instantly between standard square and quasi square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4962FD0-10ED-F784-8950-795883524657}"/>
              </a:ext>
            </a:extLst>
          </p:cNvPr>
          <p:cNvSpPr/>
          <p:nvPr/>
        </p:nvSpPr>
        <p:spPr>
          <a:xfrm>
            <a:off x="8636000" y="345440"/>
            <a:ext cx="3420284" cy="830997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AA652A5-A9F0-1008-0B7D-B3B36EE4D211}"/>
              </a:ext>
            </a:extLst>
          </p:cNvPr>
          <p:cNvCxnSpPr/>
          <p:nvPr/>
        </p:nvCxnSpPr>
        <p:spPr>
          <a:xfrm>
            <a:off x="8849360" y="1737360"/>
            <a:ext cx="146304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746389F-0A15-6F85-75C5-FEFC912B7250}"/>
              </a:ext>
            </a:extLst>
          </p:cNvPr>
          <p:cNvCxnSpPr/>
          <p:nvPr/>
        </p:nvCxnSpPr>
        <p:spPr>
          <a:xfrm flipV="1">
            <a:off x="10312400" y="1295220"/>
            <a:ext cx="0" cy="44214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33269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D50385A-D514-CC21-E537-27881DC8D108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C812DC-210C-CB66-C433-A30B3D9BD19D}"/>
              </a:ext>
            </a:extLst>
          </p:cNvPr>
          <p:cNvSpPr txBox="1"/>
          <p:nvPr/>
        </p:nvSpPr>
        <p:spPr>
          <a:xfrm>
            <a:off x="320040" y="109728"/>
            <a:ext cx="109728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 dirty="0">
                <a:latin typeface="Cambria" panose="02040503050406030204" pitchFamily="18" charset="0"/>
                <a:ea typeface="Cambria" panose="02040503050406030204" pitchFamily="18" charset="0"/>
              </a:rPr>
              <a:t>Core Selection &amp; Material Optimization</a:t>
            </a:r>
            <a:r>
              <a:rPr lang="en-IN" sz="4000" b="1" i="0" dirty="0"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  <a:endParaRPr sz="4000" b="1" i="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96530F-989E-4CF8-53E2-F46F2097C7CF}"/>
              </a:ext>
            </a:extLst>
          </p:cNvPr>
          <p:cNvSpPr txBox="1"/>
          <p:nvPr/>
        </p:nvSpPr>
        <p:spPr>
          <a:xfrm>
            <a:off x="320040" y="749808"/>
            <a:ext cx="10972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>
                <a:latin typeface="Cambria" panose="02040503050406030204" pitchFamily="18" charset="0"/>
                <a:ea typeface="Cambria" panose="02040503050406030204" pitchFamily="18" charset="0"/>
              </a:rPr>
              <a:t>Area Product Method · </a:t>
            </a:r>
            <a:r>
              <a:rPr sz="2000" b="0" i="0" dirty="0" err="1">
                <a:latin typeface="Cambria" panose="02040503050406030204" pitchFamily="18" charset="0"/>
                <a:ea typeface="Cambria" panose="02040503050406030204" pitchFamily="18" charset="0"/>
              </a:rPr>
              <a:t>MnZn</a:t>
            </a:r>
            <a:r>
              <a:rPr sz="2000" b="0" i="0" dirty="0">
                <a:latin typeface="Cambria" panose="02040503050406030204" pitchFamily="18" charset="0"/>
                <a:ea typeface="Cambria" panose="02040503050406030204" pitchFamily="18" charset="0"/>
              </a:rPr>
              <a:t> Ferrite N87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E830BF1-B51F-6530-2F3B-1AA1D6B86865}"/>
              </a:ext>
            </a:extLst>
          </p:cNvPr>
          <p:cNvSpPr txBox="1"/>
          <p:nvPr/>
        </p:nvSpPr>
        <p:spPr>
          <a:xfrm>
            <a:off x="11704320" y="6565392"/>
            <a:ext cx="3657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5A623"/>
                </a:solidFill>
              </a:rPr>
              <a:t>4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D02CB8D-E264-1DE1-FF35-11777D53D46C}"/>
              </a:ext>
            </a:extLst>
          </p:cNvPr>
          <p:cNvSpPr/>
          <p:nvPr/>
        </p:nvSpPr>
        <p:spPr>
          <a:xfrm>
            <a:off x="137160" y="1444752"/>
            <a:ext cx="5577840" cy="4663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0ECCCD4-9925-1585-6403-FAD7B7B9F58C}"/>
              </a:ext>
            </a:extLst>
          </p:cNvPr>
          <p:cNvSpPr txBox="1"/>
          <p:nvPr/>
        </p:nvSpPr>
        <p:spPr>
          <a:xfrm>
            <a:off x="360680" y="1685375"/>
            <a:ext cx="5303520" cy="28418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dirty="0">
                <a:solidFill>
                  <a:srgbClr val="222222"/>
                </a:solidFill>
              </a:rPr>
              <a:t> ▸  </a:t>
            </a:r>
            <a:r>
              <a:rPr dirty="0" err="1">
                <a:solidFill>
                  <a:srgbClr val="222222"/>
                </a:solidFill>
              </a:rPr>
              <a:t>MnZn</a:t>
            </a:r>
            <a:r>
              <a:rPr dirty="0">
                <a:solidFill>
                  <a:srgbClr val="222222"/>
                </a:solidFill>
              </a:rPr>
              <a:t> Ferrite (N87) selected over nanocrystalline alloys</a:t>
            </a:r>
          </a:p>
          <a:p>
            <a:pPr algn="l">
              <a:spcBef>
                <a:spcPts val="400"/>
              </a:spcBef>
            </a:pPr>
            <a:r>
              <a:rPr dirty="0">
                <a:solidFill>
                  <a:srgbClr val="222222"/>
                </a:solidFill>
              </a:rPr>
              <a:t>▸  </a:t>
            </a:r>
            <a:r>
              <a:rPr dirty="0" err="1">
                <a:solidFill>
                  <a:srgbClr val="222222"/>
                </a:solidFill>
              </a:rPr>
              <a:t>MnZn</a:t>
            </a:r>
            <a:r>
              <a:rPr dirty="0">
                <a:solidFill>
                  <a:srgbClr val="222222"/>
                </a:solidFill>
              </a:rPr>
              <a:t> ferrite: high resistivity → eliminates macro-eddy losses; cost-effective</a:t>
            </a:r>
          </a:p>
          <a:p>
            <a:pPr algn="l">
              <a:spcBef>
                <a:spcPts val="400"/>
              </a:spcBef>
            </a:pPr>
            <a:r>
              <a:rPr dirty="0">
                <a:solidFill>
                  <a:srgbClr val="222222"/>
                </a:solidFill>
              </a:rPr>
              <a:t> ▸  Area Product method used for core sizing:</a:t>
            </a:r>
          </a:p>
          <a:p>
            <a:pPr algn="l">
              <a:spcBef>
                <a:spcPts val="400"/>
              </a:spcBef>
            </a:pPr>
            <a:r>
              <a:rPr dirty="0">
                <a:solidFill>
                  <a:srgbClr val="222222"/>
                </a:solidFill>
              </a:rPr>
              <a:t> ▸      Ap = VA / (2 × f × Bp × Kw × J)</a:t>
            </a:r>
          </a:p>
          <a:p>
            <a:pPr algn="l">
              <a:spcBef>
                <a:spcPts val="400"/>
              </a:spcBef>
            </a:pPr>
            <a:r>
              <a:rPr dirty="0">
                <a:solidFill>
                  <a:srgbClr val="222222"/>
                </a:solidFill>
              </a:rPr>
              <a:t>▸  Required Ap = </a:t>
            </a:r>
            <a:r>
              <a:rPr lang="en-IN" dirty="0">
                <a:solidFill>
                  <a:srgbClr val="222222"/>
                </a:solidFill>
              </a:rPr>
              <a:t>12500m</a:t>
            </a:r>
            <a:r>
              <a:rPr dirty="0">
                <a:solidFill>
                  <a:srgbClr val="222222"/>
                </a:solidFill>
              </a:rPr>
              <a:t>m⁴ </a:t>
            </a:r>
            <a:endParaRPr lang="en-IN" dirty="0">
              <a:solidFill>
                <a:srgbClr val="222222"/>
              </a:solidFill>
            </a:endParaRPr>
          </a:p>
          <a:p>
            <a:pPr algn="l">
              <a:spcBef>
                <a:spcPts val="400"/>
              </a:spcBef>
            </a:pPr>
            <a:r>
              <a:rPr dirty="0">
                <a:solidFill>
                  <a:srgbClr val="222222"/>
                </a:solidFill>
              </a:rPr>
              <a:t>▸  Selected: E-core (E</a:t>
            </a:r>
            <a:r>
              <a:rPr lang="en-IN" dirty="0">
                <a:solidFill>
                  <a:srgbClr val="222222"/>
                </a:solidFill>
              </a:rPr>
              <a:t>E65/32/27 </a:t>
            </a:r>
            <a:r>
              <a:rPr dirty="0">
                <a:solidFill>
                  <a:srgbClr val="222222"/>
                </a:solidFill>
              </a:rPr>
              <a:t>double-stack) with Ap ≥ </a:t>
            </a:r>
            <a:r>
              <a:rPr lang="en-IN" dirty="0">
                <a:solidFill>
                  <a:srgbClr val="222222"/>
                </a:solidFill>
              </a:rPr>
              <a:t>328492mm</a:t>
            </a:r>
            <a:r>
              <a:rPr lang="en-IN" baseline="30000" dirty="0">
                <a:solidFill>
                  <a:srgbClr val="222222"/>
                </a:solidFill>
              </a:rPr>
              <a:t>4</a:t>
            </a:r>
            <a:r>
              <a:rPr dirty="0">
                <a:solidFill>
                  <a:srgbClr val="222222"/>
                </a:solidFill>
              </a:rPr>
              <a:t>— provides safety margin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A8C5EC5-AD4A-5A8A-7AA6-2C8EDA7F4B3D}"/>
              </a:ext>
            </a:extLst>
          </p:cNvPr>
          <p:cNvSpPr/>
          <p:nvPr/>
        </p:nvSpPr>
        <p:spPr>
          <a:xfrm>
            <a:off x="6080760" y="1508760"/>
            <a:ext cx="5806440" cy="4663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04C2C9-1525-E0F9-3E5B-3903670AB938}"/>
              </a:ext>
            </a:extLst>
          </p:cNvPr>
          <p:cNvSpPr txBox="1"/>
          <p:nvPr/>
        </p:nvSpPr>
        <p:spPr>
          <a:xfrm>
            <a:off x="6263640" y="1572768"/>
            <a:ext cx="53949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53A0"/>
                </a:solidFill>
              </a:rPr>
              <a:t>Design Parameters at a Glance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B660954-23A3-6515-CB1E-2CD4D23F8DF8}"/>
              </a:ext>
            </a:extLst>
          </p:cNvPr>
          <p:cNvSpPr/>
          <p:nvPr/>
        </p:nvSpPr>
        <p:spPr>
          <a:xfrm>
            <a:off x="6172200" y="2057400"/>
            <a:ext cx="5669280" cy="402336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76B5831-AF1A-8AE0-5D7D-75712E627147}"/>
              </a:ext>
            </a:extLst>
          </p:cNvPr>
          <p:cNvSpPr txBox="1"/>
          <p:nvPr/>
        </p:nvSpPr>
        <p:spPr>
          <a:xfrm>
            <a:off x="6263640" y="2093976"/>
            <a:ext cx="2743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222222"/>
                </a:solidFill>
              </a:rPr>
              <a:t>Rated Power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3C12FB3-B15D-A088-420B-35C2CADE3CFE}"/>
              </a:ext>
            </a:extLst>
          </p:cNvPr>
          <p:cNvSpPr txBox="1"/>
          <p:nvPr/>
        </p:nvSpPr>
        <p:spPr>
          <a:xfrm>
            <a:off x="9052560" y="2093976"/>
            <a:ext cx="26517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b="0" i="0" dirty="0">
                <a:solidFill>
                  <a:srgbClr val="1A53A0"/>
                </a:solidFill>
              </a:rPr>
              <a:t>5kW</a:t>
            </a:r>
            <a:endParaRPr b="0" i="0" dirty="0">
              <a:solidFill>
                <a:srgbClr val="1A53A0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DCA8062-57E5-4C19-D4CE-A502673DE90F}"/>
              </a:ext>
            </a:extLst>
          </p:cNvPr>
          <p:cNvSpPr/>
          <p:nvPr/>
        </p:nvSpPr>
        <p:spPr>
          <a:xfrm>
            <a:off x="6172200" y="2459736"/>
            <a:ext cx="566928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A32EBDF-4D1F-F71E-FD92-059021D52DC7}"/>
              </a:ext>
            </a:extLst>
          </p:cNvPr>
          <p:cNvSpPr txBox="1"/>
          <p:nvPr/>
        </p:nvSpPr>
        <p:spPr>
          <a:xfrm>
            <a:off x="6263640" y="2496312"/>
            <a:ext cx="2743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222222"/>
                </a:solidFill>
              </a:rPr>
              <a:t>Switching Freq.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61E4C98-3CB4-610C-263F-CE6AF36178D9}"/>
              </a:ext>
            </a:extLst>
          </p:cNvPr>
          <p:cNvSpPr txBox="1"/>
          <p:nvPr/>
        </p:nvSpPr>
        <p:spPr>
          <a:xfrm>
            <a:off x="9052560" y="2496312"/>
            <a:ext cx="26517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>
                <a:solidFill>
                  <a:srgbClr val="1A53A0"/>
                </a:solidFill>
              </a:rPr>
              <a:t>100 kHz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40401C6-CA63-F306-1369-EECE341E9AE2}"/>
              </a:ext>
            </a:extLst>
          </p:cNvPr>
          <p:cNvSpPr/>
          <p:nvPr/>
        </p:nvSpPr>
        <p:spPr>
          <a:xfrm>
            <a:off x="6172200" y="2862072"/>
            <a:ext cx="5669280" cy="402336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3619CBE-43A1-19BE-0D64-13E976825475}"/>
              </a:ext>
            </a:extLst>
          </p:cNvPr>
          <p:cNvSpPr txBox="1"/>
          <p:nvPr/>
        </p:nvSpPr>
        <p:spPr>
          <a:xfrm>
            <a:off x="6263640" y="2898648"/>
            <a:ext cx="2743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222222"/>
                </a:solidFill>
              </a:rPr>
              <a:t>Max Flux Density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59F6A8F-07A5-4752-1848-C2D967D5C3E3}"/>
              </a:ext>
            </a:extLst>
          </p:cNvPr>
          <p:cNvSpPr txBox="1"/>
          <p:nvPr/>
        </p:nvSpPr>
        <p:spPr>
          <a:xfrm>
            <a:off x="9052560" y="2898648"/>
            <a:ext cx="26517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1A53A0"/>
                </a:solidFill>
              </a:rPr>
              <a:t>0.2 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0C34E0B-6F1F-3830-134B-BBB4B9F96979}"/>
              </a:ext>
            </a:extLst>
          </p:cNvPr>
          <p:cNvSpPr/>
          <p:nvPr/>
        </p:nvSpPr>
        <p:spPr>
          <a:xfrm>
            <a:off x="6172200" y="3264408"/>
            <a:ext cx="566928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D13A5F2-7BA5-18A2-4CA0-5DF1086440FD}"/>
              </a:ext>
            </a:extLst>
          </p:cNvPr>
          <p:cNvSpPr txBox="1"/>
          <p:nvPr/>
        </p:nvSpPr>
        <p:spPr>
          <a:xfrm>
            <a:off x="6263640" y="3300984"/>
            <a:ext cx="2743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222222"/>
                </a:solidFill>
              </a:rPr>
              <a:t>Window Fill (Kw)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B5B1763-69E2-24AE-2D48-076939DE489A}"/>
              </a:ext>
            </a:extLst>
          </p:cNvPr>
          <p:cNvSpPr txBox="1"/>
          <p:nvPr/>
        </p:nvSpPr>
        <p:spPr>
          <a:xfrm>
            <a:off x="9052560" y="3300984"/>
            <a:ext cx="26517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1A53A0"/>
                </a:solidFill>
              </a:rPr>
              <a:t>0.</a:t>
            </a:r>
            <a:r>
              <a:rPr lang="en-IN" b="0" i="0" dirty="0">
                <a:solidFill>
                  <a:srgbClr val="1A53A0"/>
                </a:solidFill>
              </a:rPr>
              <a:t>4</a:t>
            </a:r>
            <a:endParaRPr b="0" i="0" dirty="0">
              <a:solidFill>
                <a:srgbClr val="1A53A0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77E3F2F-7DA6-71D1-CFE1-764E48CE6015}"/>
              </a:ext>
            </a:extLst>
          </p:cNvPr>
          <p:cNvSpPr/>
          <p:nvPr/>
        </p:nvSpPr>
        <p:spPr>
          <a:xfrm>
            <a:off x="6172200" y="3666744"/>
            <a:ext cx="5669280" cy="402336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8782789-4DE0-D15B-5AF3-F2AC3C8B3726}"/>
              </a:ext>
            </a:extLst>
          </p:cNvPr>
          <p:cNvSpPr txBox="1"/>
          <p:nvPr/>
        </p:nvSpPr>
        <p:spPr>
          <a:xfrm>
            <a:off x="6263640" y="3703320"/>
            <a:ext cx="2743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222222"/>
                </a:solidFill>
              </a:rPr>
              <a:t>Current Density J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084E4E2-8BA0-A4BB-85B2-BF04D8E8AEA4}"/>
              </a:ext>
            </a:extLst>
          </p:cNvPr>
          <p:cNvSpPr txBox="1"/>
          <p:nvPr/>
        </p:nvSpPr>
        <p:spPr>
          <a:xfrm>
            <a:off x="9052560" y="3703320"/>
            <a:ext cx="26517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dirty="0">
                <a:solidFill>
                  <a:srgbClr val="1A53A0"/>
                </a:solidFill>
              </a:rPr>
              <a:t>2.5</a:t>
            </a:r>
            <a:r>
              <a:rPr b="0" i="0" dirty="0">
                <a:solidFill>
                  <a:srgbClr val="1A53A0"/>
                </a:solidFill>
              </a:rPr>
              <a:t>A/mm²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F705B70-387B-5965-9C90-37A71F811401}"/>
              </a:ext>
            </a:extLst>
          </p:cNvPr>
          <p:cNvSpPr/>
          <p:nvPr/>
        </p:nvSpPr>
        <p:spPr>
          <a:xfrm>
            <a:off x="6172200" y="4069080"/>
            <a:ext cx="566928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18A37B7-3F8F-9DE2-9FB7-8B5FAA50E845}"/>
              </a:ext>
            </a:extLst>
          </p:cNvPr>
          <p:cNvSpPr txBox="1"/>
          <p:nvPr/>
        </p:nvSpPr>
        <p:spPr>
          <a:xfrm>
            <a:off x="6263640" y="4105656"/>
            <a:ext cx="2743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222222"/>
                </a:solidFill>
              </a:rPr>
              <a:t>Required Ap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A25ECD35-C559-D091-FF2A-C35D1A1416E1}"/>
                  </a:ext>
                </a:extLst>
              </p:cNvPr>
              <p:cNvSpPr txBox="1"/>
              <p:nvPr/>
            </p:nvSpPr>
            <p:spPr>
              <a:xfrm>
                <a:off x="9052560" y="4105656"/>
                <a:ext cx="265176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0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125</m:t>
                      </m:r>
                      <m:r>
                        <a:rPr lang="en-US" sz="20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000 </m:t>
                      </m:r>
                      <m:sSup>
                        <m:sSupPr>
                          <m:ctrlPr>
                            <a:rPr lang="en-US" sz="20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𝑚𝑚</m:t>
                          </m:r>
                        </m:e>
                        <m:sup>
                          <m:r>
                            <a:rPr lang="en-US" sz="20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</m:oMath>
                  </m:oMathPara>
                </a14:m>
                <a:endParaRPr lang="en-IN" sz="2000" dirty="0">
                  <a:solidFill>
                    <a:schemeClr val="accent1"/>
                  </a:solidFill>
                </a:endParaRPr>
              </a:p>
            </p:txBody>
          </p:sp>
        </mc:Choice>
        <mc:Fallback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A25ECD35-C559-D091-FF2A-C35D1A1416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52560" y="4105656"/>
                <a:ext cx="2651760" cy="40011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Rectangle 33">
            <a:extLst>
              <a:ext uri="{FF2B5EF4-FFF2-40B4-BE49-F238E27FC236}">
                <a16:creationId xmlns:a16="http://schemas.microsoft.com/office/drawing/2014/main" id="{1DD2477F-1D9B-3351-0AAF-74B2376E2330}"/>
              </a:ext>
            </a:extLst>
          </p:cNvPr>
          <p:cNvSpPr/>
          <p:nvPr/>
        </p:nvSpPr>
        <p:spPr>
          <a:xfrm>
            <a:off x="6172200" y="4471416"/>
            <a:ext cx="5669280" cy="402336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46B3E8F-9241-3535-257E-1745343E326E}"/>
              </a:ext>
            </a:extLst>
          </p:cNvPr>
          <p:cNvSpPr txBox="1"/>
          <p:nvPr/>
        </p:nvSpPr>
        <p:spPr>
          <a:xfrm>
            <a:off x="6263640" y="4507992"/>
            <a:ext cx="2743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222222"/>
                </a:solidFill>
              </a:rPr>
              <a:t>Core Selected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9E6972C-31F4-F60A-7FDC-AE71CB7839C8}"/>
              </a:ext>
            </a:extLst>
          </p:cNvPr>
          <p:cNvSpPr txBox="1"/>
          <p:nvPr/>
        </p:nvSpPr>
        <p:spPr>
          <a:xfrm>
            <a:off x="9052560" y="4507992"/>
            <a:ext cx="26517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EE65/32/27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1B858DA-311F-0EAD-E797-DE01CBA52C3B}"/>
              </a:ext>
            </a:extLst>
          </p:cNvPr>
          <p:cNvSpPr/>
          <p:nvPr/>
        </p:nvSpPr>
        <p:spPr>
          <a:xfrm>
            <a:off x="6172200" y="4873752"/>
            <a:ext cx="566928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CA3DA2D-8F8A-0575-690E-510CCB52ECBC}"/>
              </a:ext>
            </a:extLst>
          </p:cNvPr>
          <p:cNvSpPr txBox="1"/>
          <p:nvPr/>
        </p:nvSpPr>
        <p:spPr>
          <a:xfrm>
            <a:off x="6263640" y="4910328"/>
            <a:ext cx="2743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222222"/>
                </a:solidFill>
              </a:rPr>
              <a:t>Core Ap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13CD44C5-4324-DBDE-A22F-F92CBDE10A12}"/>
                  </a:ext>
                </a:extLst>
              </p:cNvPr>
              <p:cNvSpPr txBox="1"/>
              <p:nvPr/>
            </p:nvSpPr>
            <p:spPr>
              <a:xfrm>
                <a:off x="9052560" y="4910328"/>
                <a:ext cx="265176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ar-AE" b="0" i="0" dirty="0">
                    <a:solidFill>
                      <a:schemeClr val="accent1"/>
                    </a:solidFill>
                  </a:rPr>
                  <a:t>≥ </a:t>
                </a:r>
                <a14:m>
                  <m:oMath xmlns:m="http://schemas.openxmlformats.org/officeDocument/2006/math">
                    <m:r>
                      <a:rPr lang="ar-AE" sz="200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ar-AE" sz="20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28490</m:t>
                    </m:r>
                    <m:sSup>
                      <m:sSupPr>
                        <m:ctrlPr>
                          <a:rPr lang="ar-AE" sz="20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20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𝑚𝑚</m:t>
                        </m:r>
                      </m:e>
                      <m:sup>
                        <m:r>
                          <a:rPr lang="ar-AE" sz="20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endParaRPr lang="ar-AE" b="0" i="0" dirty="0">
                  <a:solidFill>
                    <a:schemeClr val="accent1"/>
                  </a:solidFill>
                </a:endParaRPr>
              </a:p>
            </p:txBody>
          </p:sp>
        </mc:Choice>
        <mc:Fallback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13CD44C5-4324-DBDE-A22F-F92CBDE10A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52560" y="4910328"/>
                <a:ext cx="2651760" cy="400110"/>
              </a:xfrm>
              <a:prstGeom prst="rect">
                <a:avLst/>
              </a:prstGeom>
              <a:blipFill>
                <a:blip r:embed="rId3"/>
                <a:stretch>
                  <a:fillRect l="-2069" t="-1538" b="-2307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Rectangle 39">
            <a:extLst>
              <a:ext uri="{FF2B5EF4-FFF2-40B4-BE49-F238E27FC236}">
                <a16:creationId xmlns:a16="http://schemas.microsoft.com/office/drawing/2014/main" id="{7BFC289A-8B3D-7434-1B1E-CC07EFDD7344}"/>
              </a:ext>
            </a:extLst>
          </p:cNvPr>
          <p:cNvSpPr/>
          <p:nvPr/>
        </p:nvSpPr>
        <p:spPr>
          <a:xfrm>
            <a:off x="6172200" y="5276088"/>
            <a:ext cx="5669280" cy="402336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31641F3-6E5B-CC23-3761-3E6DEF55FF6F}"/>
              </a:ext>
            </a:extLst>
          </p:cNvPr>
          <p:cNvSpPr txBox="1"/>
          <p:nvPr/>
        </p:nvSpPr>
        <p:spPr>
          <a:xfrm>
            <a:off x="6263640" y="5312664"/>
            <a:ext cx="2743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222222"/>
                </a:solidFill>
              </a:rPr>
              <a:t>Core Material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7E23647-9891-DE83-A211-63627A197E09}"/>
              </a:ext>
            </a:extLst>
          </p:cNvPr>
          <p:cNvSpPr txBox="1"/>
          <p:nvPr/>
        </p:nvSpPr>
        <p:spPr>
          <a:xfrm>
            <a:off x="9052560" y="5312664"/>
            <a:ext cx="26517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>
                <a:solidFill>
                  <a:srgbClr val="1A53A0"/>
                </a:solidFill>
              </a:rPr>
              <a:t>TDK N87 MnZn Ferrite</a:t>
            </a:r>
          </a:p>
        </p:txBody>
      </p:sp>
    </p:spTree>
    <p:extLst>
      <p:ext uri="{BB962C8B-B14F-4D97-AF65-F5344CB8AC3E}">
        <p14:creationId xmlns:p14="http://schemas.microsoft.com/office/powerpoint/2010/main" val="14182362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BAE449B-42AD-FAD5-D89A-4C9FBFA4BD17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875996-DCC1-FC94-072E-23EE8B329801}"/>
              </a:ext>
            </a:extLst>
          </p:cNvPr>
          <p:cNvSpPr txBox="1"/>
          <p:nvPr/>
        </p:nvSpPr>
        <p:spPr>
          <a:xfrm>
            <a:off x="320040" y="109728"/>
            <a:ext cx="10972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 dirty="0">
                <a:latin typeface="Cambria" panose="02040503050406030204" pitchFamily="18" charset="0"/>
                <a:ea typeface="Cambria" panose="02040503050406030204" pitchFamily="18" charset="0"/>
              </a:rPr>
              <a:t>High-Frequency Winding Design</a:t>
            </a:r>
            <a:r>
              <a:rPr lang="en-IN" sz="3600" b="1" i="0" dirty="0"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  <a:endParaRPr sz="3600" b="1" i="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B10F5D-4F1C-857F-44E8-539FC61D2855}"/>
              </a:ext>
            </a:extLst>
          </p:cNvPr>
          <p:cNvSpPr txBox="1"/>
          <p:nvPr/>
        </p:nvSpPr>
        <p:spPr>
          <a:xfrm>
            <a:off x="320040" y="749808"/>
            <a:ext cx="10972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latin typeface="Cambria" panose="02040503050406030204" pitchFamily="18" charset="0"/>
                <a:ea typeface="Cambria" panose="02040503050406030204" pitchFamily="18" charset="0"/>
              </a:rPr>
              <a:t>Litz Wire Selection · Skin &amp; Proximity Effect Mitigation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6F2308-DF1B-4EA0-F271-4AD53904BC5F}"/>
              </a:ext>
            </a:extLst>
          </p:cNvPr>
          <p:cNvSpPr txBox="1"/>
          <p:nvPr/>
        </p:nvSpPr>
        <p:spPr>
          <a:xfrm>
            <a:off x="11704320" y="6565392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0" i="0">
                <a:solidFill>
                  <a:srgbClr val="F5A623"/>
                </a:solidFill>
              </a:rPr>
              <a:t>5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AECEF67-5256-2F85-4CED-FD3DC0F7A60D}"/>
              </a:ext>
            </a:extLst>
          </p:cNvPr>
          <p:cNvSpPr/>
          <p:nvPr/>
        </p:nvSpPr>
        <p:spPr>
          <a:xfrm>
            <a:off x="137160" y="1355709"/>
            <a:ext cx="7315200" cy="4663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E7636CD-7138-5F75-4BB1-C681117C31FD}"/>
              </a:ext>
            </a:extLst>
          </p:cNvPr>
          <p:cNvSpPr/>
          <p:nvPr/>
        </p:nvSpPr>
        <p:spPr>
          <a:xfrm>
            <a:off x="7763256" y="1355709"/>
            <a:ext cx="4069080" cy="466344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5224E4B-C243-F287-C5FD-47C28BFCF3C9}"/>
                  </a:ext>
                </a:extLst>
              </p:cNvPr>
              <p:cNvSpPr txBox="1"/>
              <p:nvPr/>
            </p:nvSpPr>
            <p:spPr>
              <a:xfrm>
                <a:off x="457200" y="1600200"/>
                <a:ext cx="7040880" cy="42473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spcBef>
                    <a:spcPts val="400"/>
                  </a:spcBef>
                </a:pPr>
                <a:r>
                  <a:rPr sz="2000" dirty="0">
                    <a:solidFill>
                      <a:srgbClr val="222222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▸  At 100 kHz, skin depth δ = √(ρ / π</a:t>
                </a:r>
                <a:r>
                  <a:rPr sz="2000" dirty="0" err="1">
                    <a:solidFill>
                      <a:srgbClr val="222222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fμ</a:t>
                </a:r>
                <a:r>
                  <a:rPr sz="2000" dirty="0">
                    <a:solidFill>
                      <a:srgbClr val="222222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) ≈ 0.206 mm for copper</a:t>
                </a:r>
              </a:p>
              <a:p>
                <a:pPr algn="l">
                  <a:spcBef>
                    <a:spcPts val="400"/>
                  </a:spcBef>
                </a:pPr>
                <a:r>
                  <a:rPr lang="en-US" sz="20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   The radius of the selected strand should be less than </a:t>
                </a:r>
                <a14:m>
                  <m:oMath xmlns:m="http://schemas.openxmlformats.org/officeDocument/2006/math">
                    <m:r>
                      <a:rPr lang="en-IN" sz="2000" i="1"/>
                      <m:t>𝛿</m:t>
                    </m:r>
                  </m:oMath>
                </a14:m>
                <a:endParaRPr lang="en-IN" sz="20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algn="l">
                  <a:spcBef>
                    <a:spcPts val="400"/>
                  </a:spcBef>
                </a:pPr>
                <a:endParaRPr sz="2000" dirty="0">
                  <a:solidFill>
                    <a:srgbClr val="222222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algn="l">
                  <a:spcBef>
                    <a:spcPts val="400"/>
                  </a:spcBef>
                </a:pPr>
                <a:r>
                  <a:rPr sz="2000" dirty="0">
                    <a:solidFill>
                      <a:srgbClr val="222222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▸  Primary: RMS current = </a:t>
                </a:r>
                <a:r>
                  <a:rPr lang="en-IN" sz="2000" dirty="0">
                    <a:solidFill>
                      <a:srgbClr val="222222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25</a:t>
                </a:r>
                <a:r>
                  <a:rPr sz="2000" dirty="0">
                    <a:solidFill>
                      <a:srgbClr val="222222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A  →  Required area = </a:t>
                </a:r>
                <a:r>
                  <a:rPr lang="en-IN" sz="2000" dirty="0">
                    <a:solidFill>
                      <a:srgbClr val="222222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10</a:t>
                </a:r>
                <a:r>
                  <a:rPr sz="2000" dirty="0">
                    <a:solidFill>
                      <a:srgbClr val="222222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mm²</a:t>
                </a:r>
              </a:p>
              <a:p>
                <a:pPr algn="l">
                  <a:spcBef>
                    <a:spcPts val="400"/>
                  </a:spcBef>
                </a:pPr>
                <a:r>
                  <a:rPr sz="2000" dirty="0">
                    <a:solidFill>
                      <a:srgbClr val="222222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▸  Secondary: RMS current = </a:t>
                </a:r>
                <a:r>
                  <a:rPr lang="en-IN" sz="2000" dirty="0">
                    <a:solidFill>
                      <a:srgbClr val="222222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17</a:t>
                </a:r>
                <a:r>
                  <a:rPr sz="2000" dirty="0">
                    <a:solidFill>
                      <a:srgbClr val="222222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A  →  Required area = </a:t>
                </a:r>
                <a:r>
                  <a:rPr lang="en-IN" sz="2000" dirty="0">
                    <a:solidFill>
                      <a:srgbClr val="222222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6.8</a:t>
                </a:r>
                <a:r>
                  <a:rPr sz="2000" dirty="0">
                    <a:solidFill>
                      <a:srgbClr val="222222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mm²</a:t>
                </a:r>
              </a:p>
              <a:p>
                <a:pPr algn="l">
                  <a:spcBef>
                    <a:spcPts val="400"/>
                  </a:spcBef>
                </a:pPr>
                <a:r>
                  <a:rPr sz="2000" dirty="0">
                    <a:solidFill>
                      <a:srgbClr val="222222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▸  Turns (Faraday's law, </a:t>
                </a:r>
                <a:r>
                  <a:rPr sz="2000" dirty="0" err="1">
                    <a:solidFill>
                      <a:srgbClr val="222222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V_in,max</a:t>
                </a:r>
                <a:r>
                  <a:rPr sz="2000" dirty="0">
                    <a:solidFill>
                      <a:srgbClr val="222222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= 270 V): </a:t>
                </a:r>
                <a:endParaRPr lang="en-IN" sz="2000" dirty="0">
                  <a:solidFill>
                    <a:srgbClr val="222222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algn="l">
                  <a:spcBef>
                    <a:spcPts val="400"/>
                  </a:spcBef>
                </a:pPr>
                <a:endParaRPr lang="en-IN" sz="2000" dirty="0">
                  <a:solidFill>
                    <a:srgbClr val="222222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algn="l">
                  <a:spcBef>
                    <a:spcPts val="400"/>
                  </a:spcBef>
                </a:pPr>
                <a:r>
                  <a:rPr sz="2000" dirty="0">
                    <a:solidFill>
                      <a:srgbClr val="222222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:r>
                  <a:rPr lang="en-IN" sz="2000" dirty="0">
                    <a:solidFill>
                      <a:srgbClr val="222222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                                                                          </a:t>
                </a:r>
                <a:r>
                  <a:rPr sz="2000" dirty="0">
                    <a:solidFill>
                      <a:srgbClr val="222222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Np = </a:t>
                </a:r>
                <a:r>
                  <a:rPr lang="en-IN" sz="2000" dirty="0">
                    <a:solidFill>
                      <a:srgbClr val="222222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6</a:t>
                </a:r>
                <a:r>
                  <a:rPr sz="2000" dirty="0">
                    <a:solidFill>
                      <a:srgbClr val="222222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T,  Ns = </a:t>
                </a:r>
                <a:r>
                  <a:rPr lang="en-IN" sz="2000" dirty="0">
                    <a:solidFill>
                      <a:srgbClr val="222222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9</a:t>
                </a:r>
                <a:r>
                  <a:rPr sz="2000" dirty="0">
                    <a:solidFill>
                      <a:srgbClr val="222222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T</a:t>
                </a:r>
                <a:endParaRPr lang="en-IN" sz="2000" dirty="0">
                  <a:solidFill>
                    <a:srgbClr val="222222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algn="l">
                  <a:spcBef>
                    <a:spcPts val="400"/>
                  </a:spcBef>
                </a:pPr>
                <a:r>
                  <a:rPr lang="en-IN" sz="2000" dirty="0">
                    <a:solidFill>
                      <a:srgbClr val="222222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  </a:t>
                </a:r>
              </a:p>
              <a:p>
                <a:pPr algn="l">
                  <a:spcBef>
                    <a:spcPts val="400"/>
                  </a:spcBef>
                </a:pPr>
                <a:r>
                  <a:rPr lang="en-IN" sz="2000" dirty="0">
                    <a:solidFill>
                      <a:srgbClr val="222222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A 6mm</a:t>
                </a:r>
                <a:r>
                  <a:rPr lang="en-IN" sz="2000" baseline="30000" dirty="0">
                    <a:solidFill>
                      <a:srgbClr val="222222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2</a:t>
                </a:r>
                <a:r>
                  <a:rPr lang="en-IN" sz="2000" dirty="0">
                    <a:solidFill>
                      <a:srgbClr val="222222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braided </a:t>
                </a:r>
                <a:r>
                  <a:rPr lang="en-IN" sz="2000" dirty="0" err="1">
                    <a:solidFill>
                      <a:srgbClr val="222222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litz</a:t>
                </a:r>
                <a:r>
                  <a:rPr lang="en-IN" sz="2000" dirty="0">
                    <a:solidFill>
                      <a:srgbClr val="222222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wire is selected and </a:t>
                </a:r>
                <a:r>
                  <a:rPr lang="en-IN" sz="2000" dirty="0" err="1">
                    <a:solidFill>
                      <a:srgbClr val="222222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paralleing</a:t>
                </a:r>
                <a:r>
                  <a:rPr lang="en-IN" sz="2000" dirty="0">
                    <a:solidFill>
                      <a:srgbClr val="222222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is done for primary side</a:t>
                </a:r>
                <a:endParaRPr sz="2000" dirty="0">
                  <a:solidFill>
                    <a:srgbClr val="222222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5224E4B-C243-F287-C5FD-47C28BFCF3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600200"/>
                <a:ext cx="7040880" cy="4247317"/>
              </a:xfrm>
              <a:prstGeom prst="rect">
                <a:avLst/>
              </a:prstGeom>
              <a:blipFill>
                <a:blip r:embed="rId2"/>
                <a:stretch>
                  <a:fillRect l="-866" t="-862" b="-158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EB6B59AD-C40F-0BC8-798A-2DD39454D828}"/>
              </a:ext>
            </a:extLst>
          </p:cNvPr>
          <p:cNvSpPr txBox="1"/>
          <p:nvPr/>
        </p:nvSpPr>
        <p:spPr>
          <a:xfrm>
            <a:off x="8001000" y="1600200"/>
            <a:ext cx="3657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F5A623"/>
                </a:solidFill>
              </a:rPr>
              <a:t>Winding Summary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3B7A7BD-4074-D5AD-E901-9798D9965FD0}"/>
              </a:ext>
            </a:extLst>
          </p:cNvPr>
          <p:cNvSpPr txBox="1"/>
          <p:nvPr/>
        </p:nvSpPr>
        <p:spPr>
          <a:xfrm>
            <a:off x="8001000" y="2084831"/>
            <a:ext cx="26517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6E4F7"/>
                </a:solidFill>
              </a:rPr>
              <a:t>  Skin Depth (δ)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C041431-86A7-6ACB-4536-FC71771CE058}"/>
              </a:ext>
            </a:extLst>
          </p:cNvPr>
          <p:cNvSpPr txBox="1"/>
          <p:nvPr/>
        </p:nvSpPr>
        <p:spPr>
          <a:xfrm>
            <a:off x="10607040" y="2084831"/>
            <a:ext cx="1143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A623"/>
                </a:solidFill>
              </a:rPr>
              <a:t>0.206 mm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654962A-9457-1A5A-E945-CBF9288B9670}"/>
              </a:ext>
            </a:extLst>
          </p:cNvPr>
          <p:cNvSpPr txBox="1"/>
          <p:nvPr/>
        </p:nvSpPr>
        <p:spPr>
          <a:xfrm>
            <a:off x="8060436" y="2627900"/>
            <a:ext cx="26517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D6E4F7"/>
                </a:solidFill>
              </a:rPr>
              <a:t>  Primary </a:t>
            </a:r>
            <a:r>
              <a:rPr sz="1600" b="0" i="0" dirty="0" err="1">
                <a:solidFill>
                  <a:srgbClr val="D6E4F7"/>
                </a:solidFill>
              </a:rPr>
              <a:t>I_rms</a:t>
            </a:r>
            <a:endParaRPr sz="1600" b="0" i="0" dirty="0">
              <a:solidFill>
                <a:srgbClr val="D6E4F7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B3639A3-B86B-6EEF-2FD0-44EB9C6D1D25}"/>
              </a:ext>
            </a:extLst>
          </p:cNvPr>
          <p:cNvSpPr txBox="1"/>
          <p:nvPr/>
        </p:nvSpPr>
        <p:spPr>
          <a:xfrm>
            <a:off x="10607040" y="2623270"/>
            <a:ext cx="1143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600" b="1" dirty="0">
                <a:solidFill>
                  <a:srgbClr val="F5A623"/>
                </a:solidFill>
              </a:rPr>
              <a:t>25</a:t>
            </a:r>
            <a:r>
              <a:rPr sz="1600" b="1" i="0" dirty="0">
                <a:solidFill>
                  <a:srgbClr val="F5A623"/>
                </a:solidFill>
              </a:rPr>
              <a:t>A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5BDD67D-CF2A-045E-FBE8-BB5CB89DA484}"/>
              </a:ext>
            </a:extLst>
          </p:cNvPr>
          <p:cNvSpPr txBox="1"/>
          <p:nvPr/>
        </p:nvSpPr>
        <p:spPr>
          <a:xfrm>
            <a:off x="8001000" y="3209544"/>
            <a:ext cx="26517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D6E4F7"/>
                </a:solidFill>
              </a:rPr>
              <a:t>  Primary Area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B2CEFCC-F219-7382-1611-9D6BD19D0AFE}"/>
              </a:ext>
            </a:extLst>
          </p:cNvPr>
          <p:cNvSpPr txBox="1"/>
          <p:nvPr/>
        </p:nvSpPr>
        <p:spPr>
          <a:xfrm>
            <a:off x="10607040" y="3209544"/>
            <a:ext cx="1143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600" b="1" dirty="0">
                <a:solidFill>
                  <a:srgbClr val="F5A623"/>
                </a:solidFill>
              </a:rPr>
              <a:t>10</a:t>
            </a:r>
            <a:r>
              <a:rPr sz="1600" b="1" i="0" dirty="0">
                <a:solidFill>
                  <a:srgbClr val="F5A623"/>
                </a:solidFill>
              </a:rPr>
              <a:t>mm²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520B547-9769-6A0E-DE9A-A8E510720D99}"/>
              </a:ext>
            </a:extLst>
          </p:cNvPr>
          <p:cNvSpPr txBox="1"/>
          <p:nvPr/>
        </p:nvSpPr>
        <p:spPr>
          <a:xfrm>
            <a:off x="8001000" y="3771900"/>
            <a:ext cx="26517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D6E4F7"/>
                </a:solidFill>
              </a:rPr>
              <a:t>  Primary Turns (Np)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6374E60-F3D8-1424-3AE4-577855A97CA5}"/>
              </a:ext>
            </a:extLst>
          </p:cNvPr>
          <p:cNvSpPr txBox="1"/>
          <p:nvPr/>
        </p:nvSpPr>
        <p:spPr>
          <a:xfrm>
            <a:off x="10607040" y="3863565"/>
            <a:ext cx="1143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600" b="1" dirty="0">
                <a:solidFill>
                  <a:srgbClr val="F5A623"/>
                </a:solidFill>
              </a:rPr>
              <a:t>6</a:t>
            </a:r>
            <a:endParaRPr sz="1600" b="1" i="0" dirty="0">
              <a:solidFill>
                <a:srgbClr val="F5A623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A560887-29FC-FF76-2F7E-5E04B59F5B33}"/>
              </a:ext>
            </a:extLst>
          </p:cNvPr>
          <p:cNvSpPr txBox="1"/>
          <p:nvPr/>
        </p:nvSpPr>
        <p:spPr>
          <a:xfrm>
            <a:off x="8001000" y="4334256"/>
            <a:ext cx="26517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D6E4F7"/>
                </a:solidFill>
              </a:rPr>
              <a:t>  Secondary </a:t>
            </a:r>
            <a:r>
              <a:rPr sz="1600" b="0" i="0" dirty="0" err="1">
                <a:solidFill>
                  <a:srgbClr val="D6E4F7"/>
                </a:solidFill>
              </a:rPr>
              <a:t>I_rms</a:t>
            </a:r>
            <a:endParaRPr sz="1600" b="0" i="0" dirty="0">
              <a:solidFill>
                <a:srgbClr val="D6E4F7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817F02A-7E53-2089-836A-53E6CFAB9145}"/>
              </a:ext>
            </a:extLst>
          </p:cNvPr>
          <p:cNvSpPr txBox="1"/>
          <p:nvPr/>
        </p:nvSpPr>
        <p:spPr>
          <a:xfrm>
            <a:off x="10607040" y="4334256"/>
            <a:ext cx="1143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600" b="1" dirty="0">
                <a:solidFill>
                  <a:srgbClr val="F5A623"/>
                </a:solidFill>
              </a:rPr>
              <a:t>17</a:t>
            </a:r>
            <a:r>
              <a:rPr sz="1600" b="1" i="0" dirty="0">
                <a:solidFill>
                  <a:srgbClr val="F5A623"/>
                </a:solidFill>
              </a:rPr>
              <a:t> 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AC80B9F-A68C-256E-2B6D-5C971AC384DD}"/>
              </a:ext>
            </a:extLst>
          </p:cNvPr>
          <p:cNvSpPr txBox="1"/>
          <p:nvPr/>
        </p:nvSpPr>
        <p:spPr>
          <a:xfrm>
            <a:off x="8001000" y="4871191"/>
            <a:ext cx="26517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D6E4F7"/>
                </a:solidFill>
              </a:rPr>
              <a:t>  Secondary Area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85C8B81-0E5F-9E68-A4DE-7525459799B1}"/>
              </a:ext>
            </a:extLst>
          </p:cNvPr>
          <p:cNvSpPr txBox="1"/>
          <p:nvPr/>
        </p:nvSpPr>
        <p:spPr>
          <a:xfrm>
            <a:off x="10591800" y="4834615"/>
            <a:ext cx="1143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600" b="1" dirty="0">
                <a:solidFill>
                  <a:srgbClr val="F5A623"/>
                </a:solidFill>
              </a:rPr>
              <a:t>6.8</a:t>
            </a:r>
            <a:r>
              <a:rPr sz="1600" b="1" i="0" dirty="0">
                <a:solidFill>
                  <a:srgbClr val="F5A623"/>
                </a:solidFill>
              </a:rPr>
              <a:t>mm²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2A501D0-3021-C254-EB09-1E6CA1FAD656}"/>
              </a:ext>
            </a:extLst>
          </p:cNvPr>
          <p:cNvSpPr txBox="1"/>
          <p:nvPr/>
        </p:nvSpPr>
        <p:spPr>
          <a:xfrm>
            <a:off x="8001000" y="5458968"/>
            <a:ext cx="26517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D6E4F7"/>
                </a:solidFill>
              </a:rPr>
              <a:t>  Secondary Turns (Ns)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2B8547A-8E44-D995-853C-B231152CBA70}"/>
              </a:ext>
            </a:extLst>
          </p:cNvPr>
          <p:cNvSpPr txBox="1"/>
          <p:nvPr/>
        </p:nvSpPr>
        <p:spPr>
          <a:xfrm>
            <a:off x="10607040" y="5458968"/>
            <a:ext cx="1143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600" b="1" dirty="0">
                <a:solidFill>
                  <a:srgbClr val="F5A623"/>
                </a:solidFill>
              </a:rPr>
              <a:t>9</a:t>
            </a:r>
            <a:endParaRPr sz="1600" b="1" i="0" dirty="0">
              <a:solidFill>
                <a:srgbClr val="F5A623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89444B6-348A-7D32-D7B1-392650568150}"/>
                  </a:ext>
                </a:extLst>
              </p:cNvPr>
              <p:cNvSpPr txBox="1"/>
              <p:nvPr/>
            </p:nvSpPr>
            <p:spPr>
              <a:xfrm>
                <a:off x="457200" y="3991656"/>
                <a:ext cx="4582160" cy="88678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40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IN" sz="24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24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  <m:r>
                            <a:rPr lang="en-US" sz="24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𝑝𝑘</m:t>
                              </m:r>
                            </m:sub>
                          </m:sSub>
                          <m:r>
                            <a:rPr lang="en-US" sz="24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IN" sz="2400" dirty="0"/>
              </a:p>
            </p:txBody>
          </p:sp>
        </mc:Choice>
        <mc:Fallback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89444B6-348A-7D32-D7B1-3926505681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3991656"/>
                <a:ext cx="4582160" cy="88678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572598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326EB-ED48-1D36-2D2C-38C82D75D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Design of 5kW Transformer: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6033BEE-47EE-BA84-D6A8-EEB961BDFB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315" y="2450624"/>
            <a:ext cx="4286250" cy="2857500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2740C0E-C68A-AA9C-8B30-63C827CBA2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7428446"/>
              </p:ext>
            </p:extLst>
          </p:nvPr>
        </p:nvGraphicFramePr>
        <p:xfrm>
          <a:off x="5608320" y="2013744"/>
          <a:ext cx="6512560" cy="43167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56280">
                  <a:extLst>
                    <a:ext uri="{9D8B030D-6E8A-4147-A177-3AD203B41FA5}">
                      <a16:colId xmlns:a16="http://schemas.microsoft.com/office/drawing/2014/main" val="131783080"/>
                    </a:ext>
                  </a:extLst>
                </a:gridCol>
                <a:gridCol w="3256280">
                  <a:extLst>
                    <a:ext uri="{9D8B030D-6E8A-4147-A177-3AD203B41FA5}">
                      <a16:colId xmlns:a16="http://schemas.microsoft.com/office/drawing/2014/main" val="802638378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r>
                        <a:rPr lang="en-IN" dirty="0"/>
                        <a:t>Parameters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Value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9305088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Input Voltage Range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180 – 270 V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2862639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Nominal Input Voltage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240 V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2644733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Output Voltage Range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300 – 420 V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1610893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Nominal Output Voltage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360 V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1626624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Switching Frequency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100 kHz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8416387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Rated Power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5kW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90459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10708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C7180-1C03-C03F-15B0-FF1ECA863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Area Product Method:</a:t>
            </a:r>
            <a:endParaRPr lang="en-IN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4" name="Content Placeholder 3" descr="A diagram of a rectangular object with a rectangular object in the middle&#10;&#10;AI-generated content may be incorrect.">
            <a:extLst>
              <a:ext uri="{FF2B5EF4-FFF2-40B4-BE49-F238E27FC236}">
                <a16:creationId xmlns:a16="http://schemas.microsoft.com/office/drawing/2014/main" id="{7A0F7771-AB92-6C70-5B5C-528997B98B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0672" y="1434624"/>
            <a:ext cx="5983128" cy="398875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F147F78-C94F-9999-1BA6-8486412FDACD}"/>
                  </a:ext>
                </a:extLst>
              </p:cNvPr>
              <p:cNvSpPr txBox="1"/>
              <p:nvPr/>
            </p:nvSpPr>
            <p:spPr>
              <a:xfrm>
                <a:off x="475536" y="2092921"/>
                <a:ext cx="6096000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𝐴𝑟𝑒𝑎</m:t>
                      </m:r>
                      <m:r>
                        <a:rPr lang="en-US" sz="1800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800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𝑃𝑟𝑜𝑑𝑢𝑐𝑡</m:t>
                      </m:r>
                      <m:r>
                        <a:rPr lang="en-IN" sz="1800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IN" sz="1800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𝐴𝑝</m:t>
                      </m:r>
                      <m:r>
                        <a:rPr lang="en-US" sz="1800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8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18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sz="1800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sz="18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18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</m:oMath>
                  </m:oMathPara>
                </a14:m>
                <a:endParaRPr lang="en-IN" sz="1800" dirty="0">
                  <a:solidFill>
                    <a:schemeClr val="bg2">
                      <a:lumMod val="1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18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</m:oMath>
                </a14:m>
                <a:r>
                  <a:rPr lang="en-IN" sz="1800" dirty="0">
                    <a:solidFill>
                      <a:schemeClr val="bg2">
                        <a:lumMod val="1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Window Area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18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IN" sz="1800" dirty="0">
                    <a:solidFill>
                      <a:schemeClr val="bg2">
                        <a:lumMod val="1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Cross Sectional Area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F147F78-C94F-9999-1BA6-8486412FDA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536" y="2092921"/>
                <a:ext cx="6096000" cy="923330"/>
              </a:xfrm>
              <a:prstGeom prst="rect">
                <a:avLst/>
              </a:prstGeom>
              <a:blipFill>
                <a:blip r:embed="rId3"/>
                <a:stretch>
                  <a:fillRect b="-921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D0E9BFA-B92D-56D7-DB4C-0F3D1CD4D4B6}"/>
                  </a:ext>
                </a:extLst>
              </p:cNvPr>
              <p:cNvSpPr txBox="1"/>
              <p:nvPr/>
            </p:nvSpPr>
            <p:spPr>
              <a:xfrm>
                <a:off x="641346" y="3326779"/>
                <a:ext cx="4662174" cy="5657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IN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dirty="0"/>
                  <a:t>=</a:t>
                </a:r>
                <a:r>
                  <a:rPr lang="en-US" dirty="0">
                    <a:solidFill>
                      <a:schemeClr val="bg2">
                        <a:lumMod val="1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IN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  <m:r>
                          <a:rPr lang="en-IN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  <m:sSub>
                          <m:sSubPr>
                            <m:ctrlPr>
                              <a:rPr lang="en-IN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IN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  <m:r>
                          <a:rPr lang="en-IN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IN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  <m:r>
                          <a:rPr lang="en-IN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  <m:sSub>
                          <m:sSubPr>
                            <m:ctrlPr>
                              <a:rPr lang="en-IN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IN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</m:num>
                      <m:den>
                        <m:r>
                          <a:rPr lang="en-IN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Ku</m:t>
                        </m:r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𝑝𝑘</m:t>
                            </m:r>
                          </m:sub>
                        </m:sSub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𝐽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lang="en-US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𝑠𝑤</m:t>
                            </m:r>
                          </m:sub>
                        </m:sSub>
                      </m:den>
                    </m:f>
                  </m:oMath>
                </a14:m>
                <a:endParaRPr lang="en-IN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D0E9BFA-B92D-56D7-DB4C-0F3D1CD4D4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346" y="3326779"/>
                <a:ext cx="4662174" cy="565732"/>
              </a:xfrm>
              <a:prstGeom prst="rect">
                <a:avLst/>
              </a:prstGeom>
              <a:blipFill>
                <a:blip r:embed="rId4"/>
                <a:stretch>
                  <a:fillRect b="-215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90C9C6C-0F00-3116-484E-5EA8A04381FD}"/>
                  </a:ext>
                </a:extLst>
              </p:cNvPr>
              <p:cNvSpPr txBox="1"/>
              <p:nvPr/>
            </p:nvSpPr>
            <p:spPr>
              <a:xfrm>
                <a:off x="386080" y="4043322"/>
                <a:ext cx="4582160" cy="68897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80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sz="18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800" b="0" i="1" smtClean="0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0" i="1" smtClean="0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1800" b="0" i="1" smtClean="0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IN" sz="18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18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  <m:sSub>
                            <m:sSubPr>
                              <m:ctrlPr>
                                <a:rPr lang="en-US" sz="1800" b="0" i="1" smtClean="0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0" i="1" smtClean="0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sz="1800" b="0" i="1" smtClean="0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  <m:r>
                            <a:rPr lang="en-US" sz="18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  <m:sSub>
                            <m:sSubPr>
                              <m:ctrlPr>
                                <a:rPr lang="en-US" sz="1800" b="0" i="1" smtClean="0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0" i="1" smtClean="0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sz="1800" b="0" i="1" smtClean="0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𝑝𝑘</m:t>
                              </m:r>
                            </m:sub>
                          </m:sSub>
                          <m:r>
                            <a:rPr lang="en-US" sz="18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  <m:sSub>
                            <m:sSubPr>
                              <m:ctrlPr>
                                <a:rPr lang="en-US" sz="1800" b="0" i="1" smtClean="0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0" i="1" smtClean="0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1800" b="0" i="1" smtClean="0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90C9C6C-0F00-3116-484E-5EA8A04381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080" y="4043322"/>
                <a:ext cx="4582160" cy="68897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517D815-EFC8-4FA0-D370-226AA70C3300}"/>
                  </a:ext>
                </a:extLst>
              </p:cNvPr>
              <p:cNvSpPr txBox="1"/>
              <p:nvPr/>
            </p:nvSpPr>
            <p:spPr>
              <a:xfrm>
                <a:off x="641346" y="5080001"/>
                <a:ext cx="6927854" cy="13399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IN" sz="2000" dirty="0" smtClean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m:t>Window</m:t>
                      </m:r>
                      <m:r>
                        <m:rPr>
                          <m:nor/>
                        </m:rPr>
                        <a:rPr lang="en-IN" sz="2000" dirty="0" smtClean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N" sz="20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m:t>Utilization</m:t>
                      </m:r>
                      <m:r>
                        <m:rPr>
                          <m:nor/>
                        </m:rPr>
                        <a:rPr lang="en-IN" sz="20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N" sz="20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m:t>Factor</m:t>
                      </m:r>
                      <m:r>
                        <m:rPr>
                          <m:nor/>
                        </m:rPr>
                        <a:rPr lang="en-IN" sz="2000" b="0" i="0" dirty="0" smtClean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m:t>,</m:t>
                      </m:r>
                      <m:r>
                        <m:rPr>
                          <m:nor/>
                        </m:rPr>
                        <a:rPr lang="en-IN" sz="2000" b="0" i="0" dirty="0" smtClean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m:t>Ku</m:t>
                      </m:r>
                      <m:r>
                        <m:rPr>
                          <m:nor/>
                        </m:rPr>
                        <a:rPr lang="en-IN" sz="2000" b="0" i="0" dirty="0" smtClean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m:t> =</m:t>
                      </m:r>
                      <m:r>
                        <m:rPr>
                          <m:nor/>
                        </m:rPr>
                        <a:rPr lang="en-IN" sz="2000" b="0" i="0" dirty="0" smtClean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m:t>0</m:t>
                      </m:r>
                      <m:r>
                        <m:rPr>
                          <m:nor/>
                        </m:rPr>
                        <a:rPr lang="en-IN" sz="2000" b="0" i="0" dirty="0" smtClean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m:t>.</m:t>
                      </m:r>
                      <m:r>
                        <m:rPr>
                          <m:nor/>
                        </m:rPr>
                        <a:rPr lang="en-IN" sz="2000" b="0" i="0" dirty="0" smtClean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m:t>4 </m:t>
                      </m:r>
                      <m:r>
                        <m:rPr>
                          <m:nor/>
                        </m:rPr>
                        <a:rPr lang="en-IN" sz="2000" b="0" i="0" dirty="0" smtClean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m:t>( </m:t>
                      </m:r>
                      <m:r>
                        <m:rPr>
                          <m:nor/>
                        </m:rPr>
                        <a:rPr lang="en-IN" sz="2000" b="0" i="0" dirty="0" smtClean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m:t>kept</m:t>
                      </m:r>
                      <m:r>
                        <m:rPr>
                          <m:nor/>
                        </m:rPr>
                        <a:rPr lang="en-IN" sz="2000" b="0" i="0" dirty="0" smtClean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N" sz="2000" b="0" i="0" dirty="0" smtClean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m:t>low</m:t>
                      </m:r>
                      <m:r>
                        <m:rPr>
                          <m:nor/>
                        </m:rPr>
                        <a:rPr lang="en-IN" sz="2000" b="0" i="0" dirty="0" smtClean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N" sz="2000" b="0" i="0" dirty="0" smtClean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m:t>for</m:t>
                      </m:r>
                      <m:r>
                        <m:rPr>
                          <m:nor/>
                        </m:rPr>
                        <a:rPr lang="en-IN" sz="2000" b="0" i="0" dirty="0" smtClean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N" sz="2000" b="0" i="0" dirty="0" smtClean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m:t>better</m:t>
                      </m:r>
                      <m:r>
                        <m:rPr>
                          <m:nor/>
                        </m:rPr>
                        <a:rPr lang="en-IN" sz="2000" b="0" i="0" dirty="0" smtClean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N" sz="2000" b="0" i="0" dirty="0" smtClean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m:t>cooling</m:t>
                      </m:r>
                      <m:r>
                        <m:rPr>
                          <m:nor/>
                        </m:rPr>
                        <a:rPr lang="en-IN" sz="2000" b="0" i="0" dirty="0" smtClean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m:t> )</m:t>
                      </m:r>
                    </m:oMath>
                  </m:oMathPara>
                </a14:m>
                <a:endParaRPr lang="en-IN" sz="20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𝑝𝑘</m:t>
                          </m:r>
                        </m:sub>
                      </m:sSub>
                      <m:r>
                        <a:rPr lang="en-IN" sz="2000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IN" sz="2000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Bm</m:t>
                      </m:r>
                      <m:r>
                        <a:rPr lang="en-IN" sz="2000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000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IN" sz="2000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2000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m:rPr>
                          <m:sty m:val="p"/>
                        </m:rPr>
                        <a:rPr lang="en-IN" sz="2000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</m:oMath>
                  </m:oMathPara>
                </a14:m>
                <a:endParaRPr lang="en-IN" sz="20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r>
                  <a:rPr lang="en-US" sz="20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Current density (J) = 2.5 A/mm</a:t>
                </a:r>
                <a:r>
                  <a:rPr lang="en-US" sz="2000" baseline="300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2</a:t>
                </a:r>
                <a:endParaRPr lang="en-IN" sz="2000" baseline="300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517D815-EFC8-4FA0-D370-226AA70C33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346" y="5080001"/>
                <a:ext cx="6927854" cy="1339982"/>
              </a:xfrm>
              <a:prstGeom prst="rect">
                <a:avLst/>
              </a:prstGeom>
              <a:blipFill>
                <a:blip r:embed="rId6"/>
                <a:stretch>
                  <a:fillRect l="-880" b="-681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938616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ECA58D9-B513-0C1A-7D85-52A800D0901A}"/>
              </a:ext>
            </a:extLst>
          </p:cNvPr>
          <p:cNvSpPr txBox="1"/>
          <p:nvPr/>
        </p:nvSpPr>
        <p:spPr>
          <a:xfrm>
            <a:off x="320040" y="109728"/>
            <a:ext cx="109728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 dirty="0">
                <a:latin typeface="Cambria" panose="02040503050406030204" pitchFamily="18" charset="0"/>
                <a:ea typeface="Cambria" panose="02040503050406030204" pitchFamily="18" charset="0"/>
              </a:rPr>
              <a:t>Hardware Fabrication &amp; Assembly of HFT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FA920A-03E1-184C-6C6E-97F1ABB52FA8}"/>
              </a:ext>
            </a:extLst>
          </p:cNvPr>
          <p:cNvSpPr txBox="1"/>
          <p:nvPr/>
        </p:nvSpPr>
        <p:spPr>
          <a:xfrm>
            <a:off x="320040" y="749808"/>
            <a:ext cx="10972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 dirty="0">
                <a:latin typeface="Cambria" panose="02040503050406030204" pitchFamily="18" charset="0"/>
                <a:ea typeface="Cambria" panose="02040503050406030204" pitchFamily="18" charset="0"/>
              </a:rPr>
              <a:t>Physical Prototype on EE65/32/27 Ferrite Core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3FD0D70-8AA4-4223-B078-E89415CE3A7E}"/>
              </a:ext>
            </a:extLst>
          </p:cNvPr>
          <p:cNvSpPr txBox="1"/>
          <p:nvPr/>
        </p:nvSpPr>
        <p:spPr>
          <a:xfrm>
            <a:off x="11704320" y="6565392"/>
            <a:ext cx="3657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F5A623"/>
                </a:solidFill>
              </a:rPr>
              <a:t>10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A05CC6-2510-5769-5A14-3D78C03473DF}"/>
              </a:ext>
            </a:extLst>
          </p:cNvPr>
          <p:cNvSpPr/>
          <p:nvPr/>
        </p:nvSpPr>
        <p:spPr>
          <a:xfrm>
            <a:off x="274320" y="1508760"/>
            <a:ext cx="7132320" cy="4663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0BCFE0C-03DA-1172-6DD5-E0DB5CA5795C}"/>
              </a:ext>
            </a:extLst>
          </p:cNvPr>
          <p:cNvSpPr txBox="1"/>
          <p:nvPr/>
        </p:nvSpPr>
        <p:spPr>
          <a:xfrm>
            <a:off x="457200" y="1572768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1A53A0"/>
                </a:solidFill>
              </a:rPr>
              <a:t>Prototype Specifications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71A178F-F2CC-8534-6E9D-EF903EB7E4C7}"/>
              </a:ext>
            </a:extLst>
          </p:cNvPr>
          <p:cNvSpPr txBox="1"/>
          <p:nvPr/>
        </p:nvSpPr>
        <p:spPr>
          <a:xfrm>
            <a:off x="411480" y="2029968"/>
            <a:ext cx="3840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222222"/>
                </a:solidFill>
              </a:rPr>
              <a:t>  Rated Power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EBD4FB3-1697-9652-F5DF-CA50BB8DA162}"/>
              </a:ext>
            </a:extLst>
          </p:cNvPr>
          <p:cNvSpPr txBox="1"/>
          <p:nvPr/>
        </p:nvSpPr>
        <p:spPr>
          <a:xfrm>
            <a:off x="4251960" y="2029968"/>
            <a:ext cx="3063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>
                <a:solidFill>
                  <a:srgbClr val="1A53A0"/>
                </a:solidFill>
              </a:rPr>
              <a:t>5 kW (scaled prototype)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C77BFA6-0ADD-C64E-C035-24F55D4F698C}"/>
              </a:ext>
            </a:extLst>
          </p:cNvPr>
          <p:cNvSpPr txBox="1"/>
          <p:nvPr/>
        </p:nvSpPr>
        <p:spPr>
          <a:xfrm>
            <a:off x="411480" y="2350008"/>
            <a:ext cx="3840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222222"/>
                </a:solidFill>
              </a:rPr>
              <a:t>  Input Voltage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05CBD38-AA4A-646E-F7BB-09285E515A91}"/>
              </a:ext>
            </a:extLst>
          </p:cNvPr>
          <p:cNvSpPr txBox="1"/>
          <p:nvPr/>
        </p:nvSpPr>
        <p:spPr>
          <a:xfrm>
            <a:off x="4251960" y="2350008"/>
            <a:ext cx="3063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>
                <a:solidFill>
                  <a:srgbClr val="1A53A0"/>
                </a:solidFill>
              </a:rPr>
              <a:t>180–270 V (nom. 240 V)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C3121E7-F6E4-7852-791C-3EAE9AC5FD1D}"/>
              </a:ext>
            </a:extLst>
          </p:cNvPr>
          <p:cNvSpPr txBox="1"/>
          <p:nvPr/>
        </p:nvSpPr>
        <p:spPr>
          <a:xfrm>
            <a:off x="411480" y="2670048"/>
            <a:ext cx="3840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222222"/>
                </a:solidFill>
              </a:rPr>
              <a:t>  Output Voltage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B2FDF23-B82D-93E6-4226-5B5FA7A8ADFE}"/>
              </a:ext>
            </a:extLst>
          </p:cNvPr>
          <p:cNvSpPr txBox="1"/>
          <p:nvPr/>
        </p:nvSpPr>
        <p:spPr>
          <a:xfrm>
            <a:off x="4251960" y="2670048"/>
            <a:ext cx="3063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>
                <a:solidFill>
                  <a:srgbClr val="1A53A0"/>
                </a:solidFill>
              </a:rPr>
              <a:t>300–420 V (nom. 360 V)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53BA9C6-E852-0E4E-143E-7EC2BC5C47E9}"/>
              </a:ext>
            </a:extLst>
          </p:cNvPr>
          <p:cNvSpPr txBox="1"/>
          <p:nvPr/>
        </p:nvSpPr>
        <p:spPr>
          <a:xfrm>
            <a:off x="411480" y="2990088"/>
            <a:ext cx="3840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222222"/>
                </a:solidFill>
              </a:rPr>
              <a:t>  Switching Freq.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DE83430-C136-75B2-E67E-A38BD087C4C9}"/>
              </a:ext>
            </a:extLst>
          </p:cNvPr>
          <p:cNvSpPr txBox="1"/>
          <p:nvPr/>
        </p:nvSpPr>
        <p:spPr>
          <a:xfrm>
            <a:off x="4251960" y="2990088"/>
            <a:ext cx="3063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>
                <a:solidFill>
                  <a:srgbClr val="1A53A0"/>
                </a:solidFill>
              </a:rPr>
              <a:t>100 kHz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609A893-6152-D3B0-71AC-C8ECC6ECD6A1}"/>
              </a:ext>
            </a:extLst>
          </p:cNvPr>
          <p:cNvSpPr txBox="1"/>
          <p:nvPr/>
        </p:nvSpPr>
        <p:spPr>
          <a:xfrm>
            <a:off x="411480" y="3310128"/>
            <a:ext cx="3840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222222"/>
                </a:solidFill>
              </a:rPr>
              <a:t>  Current Density J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66570A6-F9D2-F045-D3D2-69273E123B15}"/>
              </a:ext>
            </a:extLst>
          </p:cNvPr>
          <p:cNvSpPr txBox="1"/>
          <p:nvPr/>
        </p:nvSpPr>
        <p:spPr>
          <a:xfrm>
            <a:off x="4251960" y="3310128"/>
            <a:ext cx="3063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>
                <a:solidFill>
                  <a:srgbClr val="1A53A0"/>
                </a:solidFill>
              </a:rPr>
              <a:t>2.5 A/mm²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7FBEDB8-C33D-C2E6-ED0A-714C1E55D1D9}"/>
              </a:ext>
            </a:extLst>
          </p:cNvPr>
          <p:cNvSpPr txBox="1"/>
          <p:nvPr/>
        </p:nvSpPr>
        <p:spPr>
          <a:xfrm>
            <a:off x="411480" y="3630168"/>
            <a:ext cx="3840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222222"/>
                </a:solidFill>
              </a:rPr>
              <a:t>  Flux Density Bm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0566A4F-C518-C4F3-39C1-3F5D7CA34045}"/>
              </a:ext>
            </a:extLst>
          </p:cNvPr>
          <p:cNvSpPr txBox="1"/>
          <p:nvPr/>
        </p:nvSpPr>
        <p:spPr>
          <a:xfrm>
            <a:off x="4251960" y="3630168"/>
            <a:ext cx="3063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>
                <a:solidFill>
                  <a:srgbClr val="1A53A0"/>
                </a:solidFill>
              </a:rPr>
              <a:t>0.2 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AC08D77-EF08-3CE9-51FD-FB74E2FF3349}"/>
              </a:ext>
            </a:extLst>
          </p:cNvPr>
          <p:cNvSpPr txBox="1"/>
          <p:nvPr/>
        </p:nvSpPr>
        <p:spPr>
          <a:xfrm>
            <a:off x="411480" y="3950208"/>
            <a:ext cx="3840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222222"/>
                </a:solidFill>
              </a:rPr>
              <a:t>  Window Factor Ku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1AEC6F8-46EF-F007-7308-F0B2608C5B06}"/>
              </a:ext>
            </a:extLst>
          </p:cNvPr>
          <p:cNvSpPr txBox="1"/>
          <p:nvPr/>
        </p:nvSpPr>
        <p:spPr>
          <a:xfrm>
            <a:off x="4251960" y="3950208"/>
            <a:ext cx="3063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>
                <a:solidFill>
                  <a:srgbClr val="1A53A0"/>
                </a:solidFill>
              </a:rPr>
              <a:t>0.4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E6370F9-3D62-A1FB-8CBE-75D4BB5792A2}"/>
              </a:ext>
            </a:extLst>
          </p:cNvPr>
          <p:cNvSpPr txBox="1"/>
          <p:nvPr/>
        </p:nvSpPr>
        <p:spPr>
          <a:xfrm>
            <a:off x="411480" y="4270248"/>
            <a:ext cx="3840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222222"/>
                </a:solidFill>
              </a:rPr>
              <a:t>  Required Ap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08E665C-81DD-681D-9C1A-13AFD6486F01}"/>
              </a:ext>
            </a:extLst>
          </p:cNvPr>
          <p:cNvSpPr txBox="1"/>
          <p:nvPr/>
        </p:nvSpPr>
        <p:spPr>
          <a:xfrm>
            <a:off x="4251960" y="4270248"/>
            <a:ext cx="3063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>
                <a:solidFill>
                  <a:srgbClr val="1A53A0"/>
                </a:solidFill>
              </a:rPr>
              <a:t>125,000 mm⁴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00C6717-8F5D-2CBD-BC56-A40C4AD16E7D}"/>
              </a:ext>
            </a:extLst>
          </p:cNvPr>
          <p:cNvSpPr txBox="1"/>
          <p:nvPr/>
        </p:nvSpPr>
        <p:spPr>
          <a:xfrm>
            <a:off x="411480" y="4590288"/>
            <a:ext cx="3840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222222"/>
                </a:solidFill>
              </a:rPr>
              <a:t>  Core Selected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F8FE378-0AF1-1360-6C58-82B3A30E8DA6}"/>
              </a:ext>
            </a:extLst>
          </p:cNvPr>
          <p:cNvSpPr txBox="1"/>
          <p:nvPr/>
        </p:nvSpPr>
        <p:spPr>
          <a:xfrm>
            <a:off x="4251960" y="4590288"/>
            <a:ext cx="32232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1A53A0"/>
                </a:solidFill>
              </a:rPr>
              <a:t>EE65/32/27 (Ap = 328,490</a:t>
            </a:r>
            <a:r>
              <a:rPr lang="en-IN" b="0" i="0" dirty="0">
                <a:solidFill>
                  <a:srgbClr val="1A53A0"/>
                </a:solidFill>
              </a:rPr>
              <a:t> </a:t>
            </a:r>
            <a:r>
              <a:rPr b="0" i="0" dirty="0">
                <a:solidFill>
                  <a:srgbClr val="1A53A0"/>
                </a:solidFill>
              </a:rPr>
              <a:t>mm⁴)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B7C1ADE-D399-470E-7A11-B0419FF141D4}"/>
              </a:ext>
            </a:extLst>
          </p:cNvPr>
          <p:cNvSpPr txBox="1"/>
          <p:nvPr/>
        </p:nvSpPr>
        <p:spPr>
          <a:xfrm>
            <a:off x="411480" y="4910327"/>
            <a:ext cx="3840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222222"/>
                </a:solidFill>
              </a:rPr>
              <a:t>  Core Area Ac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DA40A50-F0FB-CB10-4FA8-3647A98AD995}"/>
              </a:ext>
            </a:extLst>
          </p:cNvPr>
          <p:cNvSpPr txBox="1"/>
          <p:nvPr/>
        </p:nvSpPr>
        <p:spPr>
          <a:xfrm>
            <a:off x="4251960" y="4910327"/>
            <a:ext cx="3063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1A53A0"/>
                </a:solidFill>
              </a:rPr>
              <a:t>535 mm²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2B669F2-63D4-E198-B5FE-20D0DE9152D4}"/>
              </a:ext>
            </a:extLst>
          </p:cNvPr>
          <p:cNvSpPr txBox="1"/>
          <p:nvPr/>
        </p:nvSpPr>
        <p:spPr>
          <a:xfrm>
            <a:off x="411480" y="5230367"/>
            <a:ext cx="3840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222222"/>
                </a:solidFill>
              </a:rPr>
              <a:t>  Primary Turns Np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E51A924-D26D-67E6-48B5-01F27E9F0CBA}"/>
              </a:ext>
            </a:extLst>
          </p:cNvPr>
          <p:cNvSpPr txBox="1"/>
          <p:nvPr/>
        </p:nvSpPr>
        <p:spPr>
          <a:xfrm>
            <a:off x="4251960" y="5230367"/>
            <a:ext cx="3063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>
                <a:solidFill>
                  <a:srgbClr val="1A53A0"/>
                </a:solidFill>
              </a:rPr>
              <a:t>6 T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54910EB-3F13-F3A0-3BA5-130B4C79A2BC}"/>
              </a:ext>
            </a:extLst>
          </p:cNvPr>
          <p:cNvSpPr txBox="1"/>
          <p:nvPr/>
        </p:nvSpPr>
        <p:spPr>
          <a:xfrm>
            <a:off x="411480" y="5550407"/>
            <a:ext cx="3840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222222"/>
                </a:solidFill>
              </a:rPr>
              <a:t>  Secondary Turns Ns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428E6B9-A16D-9900-8B6F-23E2F43E4D3D}"/>
              </a:ext>
            </a:extLst>
          </p:cNvPr>
          <p:cNvSpPr txBox="1"/>
          <p:nvPr/>
        </p:nvSpPr>
        <p:spPr>
          <a:xfrm>
            <a:off x="4251960" y="5550407"/>
            <a:ext cx="3063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>
                <a:solidFill>
                  <a:srgbClr val="1A53A0"/>
                </a:solidFill>
              </a:rPr>
              <a:t>9 T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E934F8D-8A8D-95BC-B812-4A52DA17947C}"/>
              </a:ext>
            </a:extLst>
          </p:cNvPr>
          <p:cNvSpPr/>
          <p:nvPr/>
        </p:nvSpPr>
        <p:spPr>
          <a:xfrm>
            <a:off x="7528560" y="4109228"/>
            <a:ext cx="4251960" cy="2639044"/>
          </a:xfrm>
          <a:prstGeom prst="rect">
            <a:avLst/>
          </a:prstGeom>
          <a:solidFill>
            <a:srgbClr val="1A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78A53DC-35E4-EC27-C235-42B29F21EE7D}"/>
              </a:ext>
            </a:extLst>
          </p:cNvPr>
          <p:cNvSpPr txBox="1"/>
          <p:nvPr/>
        </p:nvSpPr>
        <p:spPr>
          <a:xfrm>
            <a:off x="7650480" y="2584609"/>
            <a:ext cx="39319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Assembly Process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5A6B185-0D1E-3DD9-D115-C892A2E640DF}"/>
              </a:ext>
            </a:extLst>
          </p:cNvPr>
          <p:cNvSpPr txBox="1"/>
          <p:nvPr/>
        </p:nvSpPr>
        <p:spPr>
          <a:xfrm>
            <a:off x="7719060" y="4409170"/>
            <a:ext cx="3931920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i="0" dirty="0">
                <a:solidFill>
                  <a:srgbClr val="FFFFFF"/>
                </a:solidFill>
              </a:rPr>
              <a:t>Assembly Process</a:t>
            </a:r>
          </a:p>
          <a:p>
            <a:pPr algn="l"/>
            <a:endParaRPr lang="en-IN" sz="1600" b="0" i="0" dirty="0">
              <a:solidFill>
                <a:srgbClr val="D6E4F7"/>
              </a:solidFill>
            </a:endParaRPr>
          </a:p>
          <a:p>
            <a:pPr algn="l"/>
            <a:r>
              <a:rPr sz="1600" b="0" i="0" dirty="0">
                <a:solidFill>
                  <a:srgbClr val="D6E4F7"/>
                </a:solidFill>
              </a:rPr>
              <a:t>▸  EE65 ferrite bobbin secured
▸  Litz wire (6 mm²) wound</a:t>
            </a:r>
            <a:r>
              <a:rPr lang="en-IN" sz="1600" b="0" i="0" dirty="0">
                <a:solidFill>
                  <a:srgbClr val="D6E4F7"/>
                </a:solidFill>
              </a:rPr>
              <a:t>ed.</a:t>
            </a:r>
            <a:r>
              <a:rPr sz="1600" b="0" i="0" dirty="0">
                <a:solidFill>
                  <a:srgbClr val="D6E4F7"/>
                </a:solidFill>
              </a:rPr>
              <a:t>
▸  Ultra-thin insulation sheets between layers
▸  Core halves aligned to </a:t>
            </a:r>
            <a:r>
              <a:rPr sz="1600" b="0" i="0" dirty="0" err="1">
                <a:solidFill>
                  <a:srgbClr val="D6E4F7"/>
                </a:solidFill>
              </a:rPr>
              <a:t>minimise</a:t>
            </a:r>
            <a:r>
              <a:rPr sz="1600" b="0" i="0" dirty="0">
                <a:solidFill>
                  <a:srgbClr val="D6E4F7"/>
                </a:solidFill>
              </a:rPr>
              <a:t> air-gap variance</a:t>
            </a: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958B05E8-E99D-BCE1-0BBD-75A598AF79F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822" t="4627" r="9986" b="5141"/>
          <a:stretch>
            <a:fillRect/>
          </a:stretch>
        </p:blipFill>
        <p:spPr bwMode="auto">
          <a:xfrm>
            <a:off x="7990840" y="1066800"/>
            <a:ext cx="3545840" cy="290905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6809721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F219D-CF23-79B2-122B-935A53AC1C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Conclusion and Future Work: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AEBBF4-35E6-7CBD-8E15-E6665AA6606B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0" y="1825625"/>
            <a:ext cx="5024120" cy="8853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sz="2400" b="1" i="0" dirty="0">
                <a:solidFill>
                  <a:srgbClr val="1A53A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Project Achievements</a:t>
            </a:r>
            <a:r>
              <a:rPr lang="en-IN" sz="2400" b="1" i="0" dirty="0">
                <a:solidFill>
                  <a:srgbClr val="1A53A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</a:p>
          <a:p>
            <a:pPr marL="0" indent="0" algn="l">
              <a:buNone/>
            </a:pPr>
            <a:endParaRPr sz="2400" b="1" i="0" dirty="0">
              <a:solidFill>
                <a:srgbClr val="1A53A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03D4B1-14FB-7D4A-C402-30E61D80A1DF}"/>
              </a:ext>
            </a:extLst>
          </p:cNvPr>
          <p:cNvSpPr txBox="1"/>
          <p:nvPr/>
        </p:nvSpPr>
        <p:spPr>
          <a:xfrm>
            <a:off x="558800" y="2710996"/>
            <a:ext cx="5303520" cy="2708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2000" dirty="0">
                <a:solidFill>
                  <a:srgbClr val="222222"/>
                </a:solidFill>
              </a:rPr>
              <a:t>▸  </a:t>
            </a:r>
            <a:r>
              <a:rPr sz="2000" dirty="0">
                <a:solidFill>
                  <a:srgbClr val="22222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Steinmetz parameters (α, β, k) extracted from N87 datasheets via log-log slope analysis</a:t>
            </a:r>
          </a:p>
          <a:p>
            <a:pPr>
              <a:spcBef>
                <a:spcPts val="400"/>
              </a:spcBef>
            </a:pPr>
            <a:r>
              <a:rPr sz="2000" dirty="0">
                <a:solidFill>
                  <a:srgbClr val="22222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▸  </a:t>
            </a:r>
            <a:r>
              <a:rPr sz="2000" dirty="0" err="1">
                <a:solidFill>
                  <a:srgbClr val="22222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iGSE</a:t>
            </a:r>
            <a:r>
              <a:rPr sz="2000" dirty="0">
                <a:solidFill>
                  <a:srgbClr val="22222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implemented for non-sinusoidal (square &amp; quasi-square) waveforms</a:t>
            </a:r>
          </a:p>
          <a:p>
            <a:pPr>
              <a:spcBef>
                <a:spcPts val="400"/>
              </a:spcBef>
            </a:pPr>
            <a:r>
              <a:rPr sz="2000" dirty="0">
                <a:solidFill>
                  <a:srgbClr val="22222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▸  Excel automation tool built with waveform drop-down toggle; validated vs. literature</a:t>
            </a:r>
          </a:p>
          <a:p>
            <a:pPr>
              <a:spcBef>
                <a:spcPts val="400"/>
              </a:spcBef>
            </a:pPr>
            <a:r>
              <a:rPr sz="2000" dirty="0">
                <a:solidFill>
                  <a:srgbClr val="22222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▸  5 kW scaled hardware prototype fabricated on EE65/32/27 core &amp; Litz wire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892E856-2FD4-17C5-53C6-DB39CEF0AFF6}"/>
              </a:ext>
            </a:extLst>
          </p:cNvPr>
          <p:cNvSpPr txBox="1"/>
          <p:nvPr/>
        </p:nvSpPr>
        <p:spPr>
          <a:xfrm>
            <a:off x="6421120" y="1806645"/>
            <a:ext cx="5212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Future Work</a:t>
            </a:r>
            <a:r>
              <a:rPr lang="en-IN" sz="2400" b="1" i="0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  <a:endParaRPr sz="2400" b="1" i="0" dirty="0">
              <a:solidFill>
                <a:schemeClr val="accent1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6B42C2B-FB7E-C7CF-6586-E0BA8AB17AB1}"/>
              </a:ext>
            </a:extLst>
          </p:cNvPr>
          <p:cNvSpPr txBox="1"/>
          <p:nvPr/>
        </p:nvSpPr>
        <p:spPr>
          <a:xfrm>
            <a:off x="6141720" y="2581989"/>
            <a:ext cx="6096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22222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▸  Open-circuit test procedure defined to isolate experimental core losses</a:t>
            </a:r>
          </a:p>
          <a:p>
            <a:r>
              <a:rPr lang="en-US" dirty="0">
                <a:solidFill>
                  <a:srgbClr val="22222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▸ B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uilding the transformer using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ANSYS Maxwell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r>
              <a:rPr lang="en-US" dirty="0">
                <a:solidFill>
                  <a:srgbClr val="D6E4F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>
                <a:solidFill>
                  <a:srgbClr val="22222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▸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 Visualize magnetic flux hot-spots &amp; eddy current distribution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>
                <a:solidFill>
                  <a:srgbClr val="22222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▸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 Compare FEA results with Excel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iGSE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calculations.</a:t>
            </a:r>
          </a:p>
          <a:p>
            <a:r>
              <a:rPr lang="en-US" dirty="0">
                <a:solidFill>
                  <a:srgbClr val="D6E4F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>
                <a:solidFill>
                  <a:srgbClr val="22222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▸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 Validate against laboratory open-circuit power measurements</a:t>
            </a:r>
          </a:p>
          <a:p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37741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83D25-E9A0-642A-F287-3D9EC05F25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References &amp; Bibliography:</a:t>
            </a:r>
            <a:b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</a:b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AE3012-F47F-3834-CE55-23AAE4B774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1440"/>
            <a:ext cx="10515600" cy="4815523"/>
          </a:xfrm>
        </p:spPr>
        <p:txBody>
          <a:bodyPr>
            <a:normAutofit fontScale="55000" lnSpcReduction="20000"/>
          </a:bodyPr>
          <a:lstStyle/>
          <a:p>
            <a:pPr marL="514350" lvl="0" indent="-514350">
              <a:lnSpc>
                <a:spcPct val="120000"/>
              </a:lnSpc>
              <a:buFont typeface="+mj-lt"/>
              <a:buAutoNum type="arabicPeriod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M. Mu, 'High Frequency Magnetic Core Loss Study', PhD Dissertation, Virginia Tech, 2013.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514350" lvl="0" indent="-514350">
              <a:lnSpc>
                <a:spcPct val="120000"/>
              </a:lnSpc>
              <a:buFont typeface="+mj-lt"/>
              <a:buAutoNum type="arabicPeriod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K. Venkatachalam, C. R. Sullivan, T. Abdallah, and H. Tacca, 'Calculation of Ferrite Core Losses with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Nonsinusoidal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Waveforms Using Improved Steinmetz Parameters', IEEE Workshop on Computers in Power Electronics (COMPEL), 2002.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514350" lvl="0" indent="-514350">
              <a:lnSpc>
                <a:spcPct val="120000"/>
              </a:lnSpc>
              <a:buFont typeface="+mj-lt"/>
              <a:buAutoNum type="arabicPeriod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J. Li, T. Abdallah, and C. R. Sullivan, 'An Improved Generalized Steinmetz Equation for Calculating Magnetic Losses Under Non-sinusoidal Excitation', IEEE Industry Applications Society Annual Meeting, 2001.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514350" lvl="0" indent="-514350">
              <a:lnSpc>
                <a:spcPct val="120000"/>
              </a:lnSpc>
              <a:buFont typeface="+mj-lt"/>
              <a:buAutoNum type="arabicPeriod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TDK Electronics, 'N87 Ferrite Material Datasheet', EPCOS/TDK, Germany, 2022.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514350" lvl="0" indent="-514350">
              <a:lnSpc>
                <a:spcPct val="120000"/>
              </a:lnSpc>
              <a:buFont typeface="+mj-lt"/>
              <a:buAutoNum type="arabicPeriod"/>
            </a:pP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Ferroxcube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, 'Soft Ferrites and Accessories Data Handbook', 2008.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514350" lvl="0" indent="-514350">
              <a:lnSpc>
                <a:spcPct val="120000"/>
              </a:lnSpc>
              <a:buFont typeface="+mj-lt"/>
              <a:buAutoNum type="arabicPeriod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Z. Liu, L. Zhu, Y. Dang, C. Zhan and S. Ji, "Accurate Analysis of Core Loss Considering the Non-uniform Magnetic Flux Distribution for High-Frequency-Transformer in Dual-Active-Bridge DC-DC Converter," 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2023 IEEE Energy Conversion Congress and Exposition (ECCE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514350" lvl="0" indent="-514350">
              <a:lnSpc>
                <a:spcPct val="120000"/>
              </a:lnSpc>
              <a:buFont typeface="+mj-lt"/>
              <a:buAutoNum type="arabicPeriod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J.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Muhlethaler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, J. Biela, J. W. Kolar and A.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Ecklebe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, "Improved Core-Loss Calculation for Magnetic Components Employed in Power Electronic Systems," in 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IEEE Transactions on Power Electronics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514350" lvl="0" indent="-514350">
              <a:lnSpc>
                <a:spcPct val="120000"/>
              </a:lnSpc>
              <a:buFont typeface="+mj-lt"/>
              <a:buAutoNum type="arabicPeriod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M. Smailes 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et al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., "Evaluation of core loss calculation methods for highly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nonsinusoidal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inputs," 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11th IET International Conference on AC and DC Power Transmission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, Birmingham, 2015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lnSpc>
                <a:spcPct val="120000"/>
              </a:lnSpc>
              <a:buNone/>
            </a:pP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9122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747906E-85FB-61DF-D3D2-FE5766203A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3063557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b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</a:br>
            <a:b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</a:br>
            <a:b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THANK YOU</a:t>
            </a:r>
            <a:br>
              <a:rPr lang="en-IN" dirty="0"/>
            </a:b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Questions and Discussions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06094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1357</Words>
  <Application>Microsoft Office PowerPoint</Application>
  <PresentationFormat>Widescreen</PresentationFormat>
  <Paragraphs>184</Paragraphs>
  <Slides>14</Slides>
  <Notes>0</Notes>
  <HiddenSlides>2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4" baseType="lpstr">
      <vt:lpstr>Arial</vt:lpstr>
      <vt:lpstr>Calibri</vt:lpstr>
      <vt:lpstr>Calibri Light</vt:lpstr>
      <vt:lpstr>Cambria</vt:lpstr>
      <vt:lpstr>Cambria Math</vt:lpstr>
      <vt:lpstr>Corben</vt:lpstr>
      <vt:lpstr>Merriweather</vt:lpstr>
      <vt:lpstr>Nobile</vt:lpstr>
      <vt:lpstr>Times New Roman</vt:lpstr>
      <vt:lpstr>Office Theme</vt:lpstr>
      <vt:lpstr>PowerPoint Presentation</vt:lpstr>
      <vt:lpstr>Introduction to problem statement:</vt:lpstr>
      <vt:lpstr>Core Loss Modelling:</vt:lpstr>
      <vt:lpstr>Extracting Steinmetz Parameters from Datasheets: </vt:lpstr>
      <vt:lpstr>Excel Automation Tool: </vt:lpstr>
      <vt:lpstr>PowerPoint Presentation</vt:lpstr>
      <vt:lpstr>PowerPoint Presentation</vt:lpstr>
      <vt:lpstr>PowerPoint Presentation</vt:lpstr>
      <vt:lpstr>Design of 5kW Transformer:</vt:lpstr>
      <vt:lpstr>Area Product Method:</vt:lpstr>
      <vt:lpstr>PowerPoint Presentation</vt:lpstr>
      <vt:lpstr>Conclusion and Future Work:</vt:lpstr>
      <vt:lpstr>References &amp; Bibliography: </vt:lpstr>
      <vt:lpstr>   THANK YOU Questions and Discussions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RAMYASRI BAKAM</dc:creator>
  <cp:lastModifiedBy>RAMYASRI BAKAM</cp:lastModifiedBy>
  <cp:revision>1</cp:revision>
  <dcterms:created xsi:type="dcterms:W3CDTF">2026-05-14T22:12:12Z</dcterms:created>
  <dcterms:modified xsi:type="dcterms:W3CDTF">2026-05-14T22:12:59Z</dcterms:modified>
</cp:coreProperties>
</file>